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2"/>
  </p:notesMasterIdLst>
  <p:handoutMasterIdLst>
    <p:handoutMasterId r:id="rId33"/>
  </p:handoutMasterIdLst>
  <p:sldIdLst>
    <p:sldId id="285" r:id="rId5"/>
    <p:sldId id="282" r:id="rId6"/>
    <p:sldId id="271" r:id="rId7"/>
    <p:sldId id="284" r:id="rId8"/>
    <p:sldId id="293" r:id="rId9"/>
    <p:sldId id="294" r:id="rId10"/>
    <p:sldId id="295" r:id="rId11"/>
    <p:sldId id="296" r:id="rId12"/>
    <p:sldId id="283" r:id="rId13"/>
    <p:sldId id="298" r:id="rId14"/>
    <p:sldId id="297" r:id="rId15"/>
    <p:sldId id="299" r:id="rId16"/>
    <p:sldId id="300" r:id="rId17"/>
    <p:sldId id="302" r:id="rId18"/>
    <p:sldId id="301" r:id="rId19"/>
    <p:sldId id="286" r:id="rId20"/>
    <p:sldId id="287" r:id="rId21"/>
    <p:sldId id="303" r:id="rId22"/>
    <p:sldId id="304" r:id="rId23"/>
    <p:sldId id="288" r:id="rId24"/>
    <p:sldId id="306" r:id="rId25"/>
    <p:sldId id="309" r:id="rId26"/>
    <p:sldId id="305" r:id="rId27"/>
    <p:sldId id="307" r:id="rId28"/>
    <p:sldId id="308" r:id="rId29"/>
    <p:sldId id="291" r:id="rId30"/>
    <p:sldId id="29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F26B43"/>
          </p15:clr>
        </p15:guide>
        <p15:guide id="3"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4A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AFBA9E-6F3A-4B8E-5085-2B566F6F4E57}" v="3" dt="2025-05-22T17:50:18.331"/>
    <p1510:client id="{621D111B-C7D4-61BE-193D-AB95560549EC}" v="55" dt="2025-05-23T10:24:56.615"/>
    <p1510:client id="{6802FC12-D7E3-EC02-FA7A-B8E7D719A2C3}" v="2" dt="2025-05-22T16:44:32.934"/>
    <p1510:client id="{7AD3B35C-2887-D461-8D61-7673AF07778E}" v="4" dt="2025-05-23T01:51:56.911"/>
    <p1510:client id="{7E1D5A70-EC83-F6B0-A05A-7E02341721AD}" v="4" dt="2025-05-22T16:57:18.376"/>
  </p1510:revLst>
</p1510:revInfo>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57" autoAdjust="0"/>
    <p:restoredTop sz="95388" autoAdjust="0"/>
  </p:normalViewPr>
  <p:slideViewPr>
    <p:cSldViewPr snapToGrid="0">
      <p:cViewPr varScale="1">
        <p:scale>
          <a:sx n="98" d="100"/>
          <a:sy n="98" d="100"/>
        </p:scale>
        <p:origin x="54" y="678"/>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5/23/2025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5/23/2025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21</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1FFC-6F69-DB52-76D7-81F4AC33E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FDA20-BAA0-A562-D43E-B16DAF15E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BECB0-A6AD-D9F2-D477-BFE9D4C5D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3E195A-4D07-316B-6FC6-88A3F578257E}"/>
              </a:ext>
            </a:extLst>
          </p:cNvPr>
          <p:cNvSpPr>
            <a:spLocks noGrp="1"/>
          </p:cNvSpPr>
          <p:nvPr>
            <p:ph type="sldNum" sz="quarter" idx="5"/>
          </p:nvPr>
        </p:nvSpPr>
        <p:spPr/>
        <p:txBody>
          <a:bodyPr/>
          <a:lstStyle/>
          <a:p>
            <a:fld id="{E7AF00E9-A49D-4007-B3B9-A3783809E505}" type="slidenum">
              <a:rPr lang="en-US" smtClean="0"/>
              <a:t>22</a:t>
            </a:fld>
            <a:endParaRPr lang="en-US" dirty="0"/>
          </a:p>
        </p:txBody>
      </p:sp>
    </p:spTree>
    <p:extLst>
      <p:ext uri="{BB962C8B-B14F-4D97-AF65-F5344CB8AC3E}">
        <p14:creationId xmlns:p14="http://schemas.microsoft.com/office/powerpoint/2010/main" val="1419098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23</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AD12-C302-BB9F-9A40-ED322DC45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D2EF9-77DC-8AED-42AC-BD2705946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81D4DA-7780-11D9-5C8E-AE3A2F8647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94ADA8-0F23-DFF4-751B-3A5A9A763792}"/>
              </a:ext>
            </a:extLst>
          </p:cNvPr>
          <p:cNvSpPr>
            <a:spLocks noGrp="1"/>
          </p:cNvSpPr>
          <p:nvPr>
            <p:ph type="sldNum" sz="quarter" idx="5"/>
          </p:nvPr>
        </p:nvSpPr>
        <p:spPr/>
        <p:txBody>
          <a:bodyPr/>
          <a:lstStyle/>
          <a:p>
            <a:fld id="{E7AF00E9-A49D-4007-B3B9-A3783809E505}" type="slidenum">
              <a:rPr lang="en-US" smtClean="0"/>
              <a:t>24</a:t>
            </a:fld>
            <a:endParaRPr lang="en-US" dirty="0"/>
          </a:p>
        </p:txBody>
      </p:sp>
    </p:spTree>
    <p:extLst>
      <p:ext uri="{BB962C8B-B14F-4D97-AF65-F5344CB8AC3E}">
        <p14:creationId xmlns:p14="http://schemas.microsoft.com/office/powerpoint/2010/main" val="10738095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51743-E863-3869-5206-C8E3494B3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19B8F-E17E-1E96-FD5B-0E0131DCA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9EF94-7C42-1FE5-A900-C5DB71F79E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93C0D-A307-4001-60CA-0855E6C4CD00}"/>
              </a:ext>
            </a:extLst>
          </p:cNvPr>
          <p:cNvSpPr>
            <a:spLocks noGrp="1"/>
          </p:cNvSpPr>
          <p:nvPr>
            <p:ph type="sldNum" sz="quarter" idx="5"/>
          </p:nvPr>
        </p:nvSpPr>
        <p:spPr/>
        <p:txBody>
          <a:bodyPr/>
          <a:lstStyle/>
          <a:p>
            <a:fld id="{E7AF00E9-A49D-4007-B3B9-A3783809E505}" type="slidenum">
              <a:rPr lang="en-US" smtClean="0"/>
              <a:t>25</a:t>
            </a:fld>
            <a:endParaRPr lang="en-US" dirty="0"/>
          </a:p>
        </p:txBody>
      </p:sp>
    </p:spTree>
    <p:extLst>
      <p:ext uri="{BB962C8B-B14F-4D97-AF65-F5344CB8AC3E}">
        <p14:creationId xmlns:p14="http://schemas.microsoft.com/office/powerpoint/2010/main" val="2892534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0" name="Oval 19"/>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5" name="Oval 24"/>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nvGrpSpPr>
          <p:cNvPr id="34" name="Group 33"/>
          <p:cNvGrpSpPr/>
          <p:nvPr/>
        </p:nvGrpSpPr>
        <p:grpSpPr>
          <a:xfrm>
            <a:off x="1329952" y="4524379"/>
            <a:ext cx="1980001" cy="1363916"/>
            <a:chOff x="4879602" y="3781429"/>
            <a:chExt cx="1980001" cy="1363916"/>
          </a:xfrm>
        </p:grpSpPr>
        <p:sp>
          <p:nvSpPr>
            <p:cNvPr id="35" name="Freeform: Shape 34"/>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38" name="Oval 37"/>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p:cNvGrpSpPr/>
          <p:nvPr/>
        </p:nvGrpSpPr>
        <p:grpSpPr>
          <a:xfrm>
            <a:off x="613998" y="5334748"/>
            <a:ext cx="678135" cy="990000"/>
            <a:chOff x="10490969" y="1448827"/>
            <a:chExt cx="678135" cy="990000"/>
          </a:xfrm>
        </p:grpSpPr>
        <p:sp>
          <p:nvSpPr>
            <p:cNvPr id="13" name="Freeform: Shape 12"/>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5" name="Oval 14"/>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6" name="Freeform: Shape 15"/>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p:cNvGrpSpPr/>
          <p:nvPr/>
        </p:nvGrpSpPr>
        <p:grpSpPr>
          <a:xfrm>
            <a:off x="356481" y="879007"/>
            <a:ext cx="734257" cy="760506"/>
            <a:chOff x="5243759" y="1363788"/>
            <a:chExt cx="734257" cy="760506"/>
          </a:xfrm>
        </p:grpSpPr>
        <p:sp>
          <p:nvSpPr>
            <p:cNvPr id="49" name="Freeform 5"/>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50" name="Freeform 6"/>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51" name="Freeform 8"/>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sp>
        <p:nvSpPr>
          <p:cNvPr id="2" name="Title 1"/>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dirty="0"/>
          </a:p>
        </p:txBody>
      </p:sp>
      <p:sp>
        <p:nvSpPr>
          <p:cNvPr id="3" name="Text Placeholder 2"/>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43" name="Freeform: Shape 42"/>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nvGrpSpPr>
          <p:cNvPr id="13" name="Group 12"/>
          <p:cNvGrpSpPr/>
          <p:nvPr/>
        </p:nvGrpSpPr>
        <p:grpSpPr>
          <a:xfrm>
            <a:off x="331786" y="5528198"/>
            <a:ext cx="631474" cy="667800"/>
            <a:chOff x="2994153" y="1378666"/>
            <a:chExt cx="631474" cy="667800"/>
          </a:xfrm>
        </p:grpSpPr>
        <p:sp>
          <p:nvSpPr>
            <p:cNvPr id="20" name="Freeform: Shape 19"/>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1" name="Oval 20"/>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sp>
        <p:nvSpPr>
          <p:cNvPr id="2" name="Title 1"/>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1" name="Rectangle 10"/>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BA1B0FB-D917-4C8C-928F-313BD683BF39}" type="slidenum">
              <a:rPr lang="en-US" smtClean="0"/>
              <a:t>‹#›</a:t>
            </a:fld>
            <a:endParaRPr lang="en-US" dirty="0"/>
          </a:p>
        </p:txBody>
      </p:sp>
      <p:sp>
        <p:nvSpPr>
          <p:cNvPr id="39" name="Freeform: Shape 38"/>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42" name="Oval 41"/>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nvGrpSpPr>
          <p:cNvPr id="51" name="Group 50"/>
          <p:cNvGrpSpPr/>
          <p:nvPr/>
        </p:nvGrpSpPr>
        <p:grpSpPr>
          <a:xfrm>
            <a:off x="623181" y="1514007"/>
            <a:ext cx="734257" cy="760506"/>
            <a:chOff x="5243759" y="1363788"/>
            <a:chExt cx="734257" cy="760506"/>
          </a:xfrm>
        </p:grpSpPr>
        <p:sp>
          <p:nvSpPr>
            <p:cNvPr id="52" name="Freeform 5"/>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53" name="Freeform 6"/>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54" name="Freeform 8"/>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4949631" y="5111861"/>
            <a:ext cx="1262947" cy="1335600"/>
            <a:chOff x="2678417" y="2427951"/>
            <a:chExt cx="1262947" cy="1335600"/>
          </a:xfrm>
        </p:grpSpPr>
        <p:sp>
          <p:nvSpPr>
            <p:cNvPr id="11" name="Freeform: Shape 10"/>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2" name="Oval 11"/>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sp>
        <p:nvSpPr>
          <p:cNvPr id="2" name="Title 1"/>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334964" y="5115518"/>
            <a:ext cx="734257" cy="760506"/>
            <a:chOff x="5243759" y="1363788"/>
            <a:chExt cx="734257" cy="760506"/>
          </a:xfrm>
        </p:grpSpPr>
        <p:sp>
          <p:nvSpPr>
            <p:cNvPr id="18" name="Freeform 5"/>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9" name="Freeform 6"/>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0" name="Freeform 8"/>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sp>
        <p:nvSpPr>
          <p:cNvPr id="2" name="Title 1"/>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p:cNvGrpSpPr/>
          <p:nvPr userDrawn="1"/>
        </p:nvGrpSpPr>
        <p:grpSpPr>
          <a:xfrm>
            <a:off x="613998" y="5334748"/>
            <a:ext cx="678135" cy="990000"/>
            <a:chOff x="10490969" y="1448827"/>
            <a:chExt cx="678135" cy="990000"/>
          </a:xfrm>
        </p:grpSpPr>
        <p:sp>
          <p:nvSpPr>
            <p:cNvPr id="24" name="Freeform: Shape 23"/>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26" name="Oval 25"/>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27" name="Freeform: Shape 26"/>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p:cNvGrpSpPr/>
          <p:nvPr userDrawn="1"/>
        </p:nvGrpSpPr>
        <p:grpSpPr>
          <a:xfrm>
            <a:off x="9010824" y="1514007"/>
            <a:ext cx="734257" cy="760506"/>
            <a:chOff x="5243759" y="1363788"/>
            <a:chExt cx="734257" cy="760506"/>
          </a:xfrm>
        </p:grpSpPr>
        <p:sp>
          <p:nvSpPr>
            <p:cNvPr id="6" name="Freeform 5"/>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7" name="Freeform 6"/>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8" name="Freeform 8"/>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sp>
        <p:nvSpPr>
          <p:cNvPr id="11" name="Oval 10"/>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nvGrpSpPr>
          <p:cNvPr id="12" name="Group 11"/>
          <p:cNvGrpSpPr/>
          <p:nvPr userDrawn="1"/>
        </p:nvGrpSpPr>
        <p:grpSpPr>
          <a:xfrm flipH="1">
            <a:off x="9063019" y="3199533"/>
            <a:ext cx="3597052" cy="2615018"/>
            <a:chOff x="4541453" y="3199533"/>
            <a:chExt cx="3597052" cy="2615018"/>
          </a:xfrm>
        </p:grpSpPr>
        <p:sp>
          <p:nvSpPr>
            <p:cNvPr id="13" name="Freeform: Shape 38"/>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p:cNvGrpSpPr/>
            <p:nvPr/>
          </p:nvGrpSpPr>
          <p:grpSpPr>
            <a:xfrm>
              <a:off x="4541453" y="3199533"/>
              <a:ext cx="3478701" cy="2615018"/>
              <a:chOff x="-481151" y="3199533"/>
              <a:chExt cx="3478701" cy="2615018"/>
            </a:xfrm>
          </p:grpSpPr>
          <p:sp>
            <p:nvSpPr>
              <p:cNvPr id="15" name="Freeform: Shape 32"/>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grpSp>
      <p:grpSp>
        <p:nvGrpSpPr>
          <p:cNvPr id="17" name="Group 16"/>
          <p:cNvGrpSpPr/>
          <p:nvPr userDrawn="1"/>
        </p:nvGrpSpPr>
        <p:grpSpPr>
          <a:xfrm>
            <a:off x="5690545" y="4100655"/>
            <a:ext cx="1335600" cy="1262947"/>
            <a:chOff x="10145015" y="2343978"/>
            <a:chExt cx="1335600" cy="1262947"/>
          </a:xfrm>
        </p:grpSpPr>
        <p:sp>
          <p:nvSpPr>
            <p:cNvPr id="18" name="Freeform: Shape 25"/>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9" name="Oval 18"/>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550863" y="4045464"/>
            <a:ext cx="11115355" cy="2286000"/>
          </a:xfrm>
        </p:spPr>
        <p:txBody>
          <a:bodyPr anchor="ctr">
            <a:noAutofit/>
          </a:bodyPr>
          <a:lstStyle>
            <a:lvl1pPr algn="l">
              <a:defRPr sz="5400"/>
            </a:lvl1pPr>
          </a:lstStyle>
          <a:p>
            <a:r>
              <a:rPr lang="en-US" dirty="0"/>
              <a:t>Click to add title</a:t>
            </a:r>
          </a:p>
        </p:txBody>
      </p:sp>
      <p:sp>
        <p:nvSpPr>
          <p:cNvPr id="8" name="Picture Placeholder 7"/>
          <p:cNvSpPr>
            <a:spLocks noGrp="1"/>
          </p:cNvSpPr>
          <p:nvPr>
            <p:ph type="pic" sz="quarter" idx="13" hasCustomPrompt="1"/>
          </p:nvPr>
        </p:nvSpPr>
        <p:spPr>
          <a:xfrm>
            <a:off x="0" y="4594"/>
            <a:ext cx="12192000" cy="3771878"/>
          </a:xfrm>
        </p:spPr>
        <p:txBody>
          <a:bodyPr>
            <a:noAutofit/>
          </a:bodyPr>
          <a:lstStyle>
            <a:lvl1pPr marL="0" indent="0" algn="ctr">
              <a:buNone/>
              <a:defRPr sz="2000"/>
            </a:lvl1pPr>
          </a:lstStyle>
          <a:p>
            <a:r>
              <a:rPr lang="en-US" dirty="0"/>
              <a:t>Click icon to insert picture</a:t>
            </a:r>
          </a:p>
        </p:txBody>
      </p:sp>
      <p:sp>
        <p:nvSpPr>
          <p:cNvPr id="7" name="Oval 6"/>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D12358-51D2-46B3-9BDE-DF29528B9454}"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0863" y="196900"/>
            <a:ext cx="4159160" cy="3155900"/>
          </a:xfrm>
        </p:spPr>
        <p:txBody>
          <a:bodyPr lIns="91440" anchor="b">
            <a:noAutofit/>
          </a:bodyPr>
          <a:lstStyle>
            <a:lvl1pPr algn="l">
              <a:defRPr sz="4000"/>
            </a:lvl1pPr>
          </a:lstStyle>
          <a:p>
            <a:r>
              <a:rPr lang="en-US" dirty="0"/>
              <a:t>Click to add title</a:t>
            </a:r>
          </a:p>
        </p:txBody>
      </p:sp>
      <p:sp>
        <p:nvSpPr>
          <p:cNvPr id="3" name="Subtitle 2"/>
          <p:cNvSpPr>
            <a:spLocks noGrp="1"/>
          </p:cNvSpPr>
          <p:nvPr>
            <p:ph type="subTitle" idx="1" hasCustomPrompt="1"/>
          </p:nvPr>
        </p:nvSpPr>
        <p:spPr>
          <a:xfrm>
            <a:off x="547271" y="3505200"/>
            <a:ext cx="4159160" cy="2352356"/>
          </a:xfrm>
        </p:spPr>
        <p:txBody>
          <a:bodyPr lIns="91440" rIns="91440">
            <a:noAutofit/>
          </a:bodyPr>
          <a:lstStyle>
            <a:lvl1pPr marL="0" indent="0" algn="l">
              <a:lnSpc>
                <a:spcPct val="100000"/>
              </a:lnSpc>
              <a:spcAft>
                <a:spcPts val="0"/>
              </a:spcAft>
              <a:buFont typeface="Arial" panose="020B0604020202020204" pitchFamily="34" charset="0"/>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4" name="Oval 13"/>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nvGrpSpPr>
          <p:cNvPr id="10" name="Group 9"/>
          <p:cNvGrpSpPr/>
          <p:nvPr userDrawn="1"/>
        </p:nvGrpSpPr>
        <p:grpSpPr>
          <a:xfrm>
            <a:off x="10822156" y="4143453"/>
            <a:ext cx="734257" cy="760506"/>
            <a:chOff x="5243759" y="1363788"/>
            <a:chExt cx="734257" cy="760506"/>
          </a:xfrm>
        </p:grpSpPr>
        <p:sp>
          <p:nvSpPr>
            <p:cNvPr id="11" name="Freeform 5"/>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2" name="Freeform 6"/>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3" name="Freeform 8"/>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sp>
        <p:nvSpPr>
          <p:cNvPr id="8" name="Picture Placeholder 14"/>
          <p:cNvSpPr>
            <a:spLocks noGrp="1"/>
          </p:cNvSpPr>
          <p:nvPr>
            <p:ph type="pic" sz="quarter" idx="13"/>
          </p:nvPr>
        </p:nvSpPr>
        <p:spPr>
          <a:xfrm>
            <a:off x="5678049" y="78871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tIns="365760">
            <a:noAutofit/>
          </a:bodyPr>
          <a:lstStyle>
            <a:lvl1pPr marL="0" indent="0" algn="ctr">
              <a:buNone/>
              <a:defRPr sz="1800"/>
            </a:lvl1pPr>
          </a:lstStyle>
          <a:p>
            <a:r>
              <a:rPr lang="en-US" dirty="0"/>
              <a:t>Click icon to add picture</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D12358-51D2-46B3-9BDE-DF29528B9454}"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grpSp>
        <p:nvGrpSpPr>
          <p:cNvPr id="7" name="Group 6"/>
          <p:cNvGrpSpPr/>
          <p:nvPr userDrawn="1"/>
        </p:nvGrpSpPr>
        <p:grpSpPr>
          <a:xfrm flipH="1" flipV="1">
            <a:off x="9063019" y="746716"/>
            <a:ext cx="3597052" cy="2615018"/>
            <a:chOff x="4541453" y="3199533"/>
            <a:chExt cx="3597052" cy="2615018"/>
          </a:xfrm>
        </p:grpSpPr>
        <p:sp>
          <p:nvSpPr>
            <p:cNvPr id="8" name="Freeform: Shape 38"/>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p:cNvGrpSpPr/>
            <p:nvPr/>
          </p:nvGrpSpPr>
          <p:grpSpPr>
            <a:xfrm>
              <a:off x="4541453" y="3199533"/>
              <a:ext cx="3478701" cy="2615018"/>
              <a:chOff x="-481151" y="3199533"/>
              <a:chExt cx="3478701" cy="2615018"/>
            </a:xfrm>
          </p:grpSpPr>
          <p:sp>
            <p:nvSpPr>
              <p:cNvPr id="10" name="Freeform: Shape 32"/>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grpSp>
      <p:grpSp>
        <p:nvGrpSpPr>
          <p:cNvPr id="19" name="Group 18"/>
          <p:cNvGrpSpPr/>
          <p:nvPr userDrawn="1"/>
        </p:nvGrpSpPr>
        <p:grpSpPr>
          <a:xfrm>
            <a:off x="8723112" y="5088958"/>
            <a:ext cx="1335600" cy="1262947"/>
            <a:chOff x="10145015" y="2343978"/>
            <a:chExt cx="1335600" cy="1262947"/>
          </a:xfrm>
        </p:grpSpPr>
        <p:sp>
          <p:nvSpPr>
            <p:cNvPr id="20" name="Freeform: Shape 25"/>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21" name="Oval 20"/>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grpSp>
        <p:nvGrpSpPr>
          <p:cNvPr id="12" name="Group 11"/>
          <p:cNvGrpSpPr/>
          <p:nvPr/>
        </p:nvGrpSpPr>
        <p:grpSpPr>
          <a:xfrm>
            <a:off x="613998" y="5334748"/>
            <a:ext cx="678135" cy="990000"/>
            <a:chOff x="10490969" y="1448827"/>
            <a:chExt cx="678135" cy="990000"/>
          </a:xfrm>
        </p:grpSpPr>
        <p:sp>
          <p:nvSpPr>
            <p:cNvPr id="13" name="Freeform: Shape 12"/>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5" name="Oval 14"/>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6" name="Freeform: Shape 15"/>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n-US" sz="4000" dirty="0"/>
            </a:lvl1pPr>
          </a:lstStyle>
          <a:p>
            <a:pPr lvl="0">
              <a:lnSpc>
                <a:spcPct val="100000"/>
              </a:lnSpc>
            </a:pPr>
            <a:r>
              <a:rPr lang="en-US" dirty="0"/>
              <a:t>Click to add title</a:t>
            </a:r>
          </a:p>
        </p:txBody>
      </p:sp>
      <p:sp>
        <p:nvSpPr>
          <p:cNvPr id="3" name="Content Placeholder 2"/>
          <p:cNvSpPr>
            <a:spLocks noGrp="1"/>
          </p:cNvSpPr>
          <p:nvPr>
            <p:ph idx="1" hasCustomPrompt="1"/>
          </p:nvPr>
        </p:nvSpPr>
        <p:spPr>
          <a:xfrm>
            <a:off x="581343" y="2103039"/>
            <a:ext cx="7929940" cy="3979625"/>
          </a:xfrm>
        </p:spPr>
        <p:txBody>
          <a:bodyPr>
            <a:normAutofit/>
          </a:bodyPr>
          <a:lstStyle>
            <a:lvl1pPr>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0"/>
            <a:ext cx="12192000" cy="6858000"/>
          </a:xfrm>
        </p:spPr>
        <p:txBody>
          <a:bodyPr/>
          <a:lstStyle>
            <a:lvl1pPr marL="0" indent="0" algn="ctr">
              <a:buNone/>
              <a:defRPr sz="2000"/>
            </a:lvl1pPr>
          </a:lstStyle>
          <a:p>
            <a:r>
              <a:rPr lang="en-US" dirty="0"/>
              <a:t>Click icon to insert picture</a:t>
            </a:r>
          </a:p>
        </p:txBody>
      </p:sp>
      <p:sp>
        <p:nvSpPr>
          <p:cNvPr id="2" name="Title 1"/>
          <p:cNvSpPr>
            <a:spLocks noGrp="1"/>
          </p:cNvSpPr>
          <p:nvPr>
            <p:ph type="ctrTitle" hasCustomPrompt="1"/>
          </p:nvPr>
        </p:nvSpPr>
        <p:spPr>
          <a:xfrm>
            <a:off x="1524000" y="1376680"/>
            <a:ext cx="9144000" cy="2286000"/>
          </a:xfrm>
        </p:spPr>
        <p:txBody>
          <a:bodyPr anchor="b">
            <a:noAutofit/>
          </a:bodyPr>
          <a:lstStyle>
            <a:lvl1pPr algn="ctr">
              <a:defRPr sz="5400"/>
            </a:lvl1pPr>
          </a:lstStyle>
          <a:p>
            <a:r>
              <a:rPr lang="en-US" dirty="0"/>
              <a:t>Click to add title</a:t>
            </a:r>
          </a:p>
        </p:txBody>
      </p:sp>
      <p:sp>
        <p:nvSpPr>
          <p:cNvPr id="3" name="Subtitle 2"/>
          <p:cNvSpPr>
            <a:spLocks noGrp="1"/>
          </p:cNvSpPr>
          <p:nvPr>
            <p:ph type="subTitle" idx="1" hasCustomPrompt="1"/>
          </p:nvPr>
        </p:nvSpPr>
        <p:spPr>
          <a:xfrm>
            <a:off x="1524000" y="3799840"/>
            <a:ext cx="9144000" cy="2286000"/>
          </a:xfrm>
        </p:spPr>
        <p:txBody>
          <a:bodyPr>
            <a:no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D12358-51D2-46B3-9BDE-DF29528B9454}" type="slidenum">
              <a:rPr lang="en-US" smtClean="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2" name="Oval 21"/>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nvGrpSpPr>
          <p:cNvPr id="13" name="Group 12"/>
          <p:cNvGrpSpPr/>
          <p:nvPr/>
        </p:nvGrpSpPr>
        <p:grpSpPr>
          <a:xfrm>
            <a:off x="331786" y="5528198"/>
            <a:ext cx="631474" cy="667800"/>
            <a:chOff x="2994153" y="1378666"/>
            <a:chExt cx="631474" cy="667800"/>
          </a:xfrm>
        </p:grpSpPr>
        <p:sp>
          <p:nvSpPr>
            <p:cNvPr id="20" name="Freeform: Shape 19"/>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21" name="Oval 20"/>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sp>
        <p:nvSpPr>
          <p:cNvPr id="2" name="Title 1"/>
          <p:cNvSpPr>
            <a:spLocks noGrp="1"/>
          </p:cNvSpPr>
          <p:nvPr>
            <p:ph type="title" hasCustomPrompt="1"/>
          </p:nvPr>
        </p:nvSpPr>
        <p:spPr>
          <a:xfrm>
            <a:off x="550863" y="508635"/>
            <a:ext cx="11090274" cy="1332000"/>
          </a:xfrm>
        </p:spPr>
        <p:txBody>
          <a:bodyPr>
            <a:normAutofit/>
          </a:bodyPr>
          <a:lstStyle>
            <a:lvl1pPr>
              <a:lnSpc>
                <a:spcPct val="100000"/>
              </a:lnSpc>
              <a:defRPr sz="4000"/>
            </a:lvl1pPr>
          </a:lstStyle>
          <a:p>
            <a:r>
              <a:rPr lang="en-US" dirty="0"/>
              <a:t>Click to add title</a:t>
            </a:r>
          </a:p>
        </p:txBody>
      </p:sp>
      <p:sp>
        <p:nvSpPr>
          <p:cNvPr id="3" name="Content Placeholder 2"/>
          <p:cNvSpPr>
            <a:spLocks noGrp="1"/>
          </p:cNvSpPr>
          <p:nvPr>
            <p:ph sz="half" idx="1" hasCustomPrompt="1"/>
          </p:nvPr>
        </p:nvSpPr>
        <p:spPr>
          <a:xfrm>
            <a:off x="550862"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half" idx="13" hasCustomPrompt="1"/>
          </p:nvPr>
        </p:nvSpPr>
        <p:spPr>
          <a:xfrm>
            <a:off x="6205540"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0974" y="196900"/>
            <a:ext cx="4899628" cy="2331490"/>
          </a:xfrm>
        </p:spPr>
        <p:txBody>
          <a:bodyPr anchor="b" anchorCtr="0">
            <a:noAutofit/>
          </a:bodyPr>
          <a:lstStyle>
            <a:lvl1pPr algn="r">
              <a:defRPr sz="4000"/>
            </a:lvl1pPr>
          </a:lstStyle>
          <a:p>
            <a:r>
              <a:rPr lang="en-US" dirty="0"/>
              <a:t>Click to add title</a:t>
            </a:r>
          </a:p>
        </p:txBody>
      </p:sp>
      <p:sp>
        <p:nvSpPr>
          <p:cNvPr id="3" name="Content Placeholder 2"/>
          <p:cNvSpPr>
            <a:spLocks noGrp="1"/>
          </p:cNvSpPr>
          <p:nvPr>
            <p:ph sz="half" idx="1" hasCustomPrompt="1"/>
          </p:nvPr>
        </p:nvSpPr>
        <p:spPr>
          <a:xfrm>
            <a:off x="583162" y="2827209"/>
            <a:ext cx="4917440" cy="3442144"/>
          </a:xfrm>
        </p:spPr>
        <p:txBody>
          <a:bodyPr>
            <a:normAutofit/>
          </a:bodyPr>
          <a:lstStyle>
            <a:lvl1pPr marL="0" indent="0" algn="r">
              <a:buNone/>
              <a:defRPr sz="1800">
                <a:solidFill>
                  <a:schemeClr val="tx1"/>
                </a:solidFill>
              </a:defRPr>
            </a:lvl1pPr>
            <a:lvl2pPr algn="r">
              <a:defRPr sz="1200">
                <a:solidFill>
                  <a:schemeClr val="tx1"/>
                </a:solidFill>
              </a:defRPr>
            </a:lvl2pPr>
            <a:lvl3pPr algn="r">
              <a:defRPr sz="1200">
                <a:solidFill>
                  <a:schemeClr val="tx1"/>
                </a:solidFill>
              </a:defRPr>
            </a:lvl3pPr>
            <a:lvl4pPr algn="r">
              <a:defRPr sz="1200">
                <a:solidFill>
                  <a:schemeClr val="tx1"/>
                </a:solidFill>
              </a:defRPr>
            </a:lvl4pPr>
            <a:lvl5pPr algn="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p:cNvSpPr>
            <a:spLocks noGrp="1"/>
          </p:cNvSpPr>
          <p:nvPr>
            <p:ph type="pic" sz="quarter" idx="13"/>
          </p:nvPr>
        </p:nvSpPr>
        <p:spPr>
          <a:xfrm>
            <a:off x="6095588" y="0"/>
            <a:ext cx="6095998" cy="6858000"/>
          </a:xfrm>
        </p:spPr>
        <p:txBody>
          <a:bodyPr>
            <a:normAutofit/>
          </a:bodyPr>
          <a:lstStyle>
            <a:lvl1pPr marL="0" indent="0" algn="ctr">
              <a:buNone/>
              <a:defRPr sz="2000">
                <a:solidFill>
                  <a:schemeClr val="tx1"/>
                </a:solidFill>
              </a:defRPr>
            </a:lvl1pPr>
          </a:lstStyle>
          <a:p>
            <a:r>
              <a:rPr lang="en-US" dirty="0"/>
              <a:t>Click icon to add picture</a:t>
            </a:r>
          </a:p>
        </p:txBody>
      </p:sp>
      <p:grpSp>
        <p:nvGrpSpPr>
          <p:cNvPr id="4" name="Group 3"/>
          <p:cNvGrpSpPr/>
          <p:nvPr userDrawn="1"/>
        </p:nvGrpSpPr>
        <p:grpSpPr>
          <a:xfrm>
            <a:off x="4803321" y="682622"/>
            <a:ext cx="734257" cy="760506"/>
            <a:chOff x="5243759" y="1363788"/>
            <a:chExt cx="734257" cy="760506"/>
          </a:xfrm>
        </p:grpSpPr>
        <p:sp>
          <p:nvSpPr>
            <p:cNvPr id="9" name="Freeform 5"/>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0" name="Freeform 6"/>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1" name="Freeform 8"/>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sp>
        <p:nvSpPr>
          <p:cNvPr id="15" name="Oval 14"/>
          <p:cNvSpPr>
            <a:spLocks noChangeAspect="1"/>
          </p:cNvSpPr>
          <p:nvPr userDrawn="1"/>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550801"/>
            <a:ext cx="11090275" cy="1237360"/>
          </a:xfrm>
        </p:spPr>
        <p:txBody>
          <a:bodyPr anchor="t" anchorCtr="0">
            <a:noAutofit/>
          </a:bodyPr>
          <a:lstStyle>
            <a:lvl1pPr>
              <a:defRPr sz="4000"/>
            </a:lvl1pPr>
          </a:lstStyle>
          <a:p>
            <a:r>
              <a:rPr lang="en-US" dirty="0"/>
              <a:t>Click to add title</a:t>
            </a:r>
          </a:p>
        </p:txBody>
      </p:sp>
      <p:sp>
        <p:nvSpPr>
          <p:cNvPr id="3" name="Content Placeholder 2"/>
          <p:cNvSpPr>
            <a:spLocks noGrp="1"/>
          </p:cNvSpPr>
          <p:nvPr>
            <p:ph sz="half" idx="1" hasCustomPrompt="1"/>
          </p:nvPr>
        </p:nvSpPr>
        <p:spPr>
          <a:xfrm>
            <a:off x="553720" y="1917065"/>
            <a:ext cx="2921000" cy="4297680"/>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p:cNvSpPr>
            <a:spLocks noGrp="1"/>
          </p:cNvSpPr>
          <p:nvPr>
            <p:ph type="tbl" sz="quarter" idx="13" hasCustomPrompt="1"/>
          </p:nvPr>
        </p:nvSpPr>
        <p:spPr>
          <a:xfrm>
            <a:off x="4048759" y="1917065"/>
            <a:ext cx="7591799" cy="4297680"/>
          </a:xfrm>
        </p:spPr>
        <p:txBody>
          <a:bodyPr>
            <a:normAutofit/>
          </a:bodyPr>
          <a:lstStyle>
            <a:lvl1pPr>
              <a:defRPr sz="2000">
                <a:solidFill>
                  <a:schemeClr val="tx1"/>
                </a:solidFill>
              </a:defRPr>
            </a:lvl1pPr>
          </a:lstStyle>
          <a:p>
            <a:r>
              <a:rPr lang="en-US" dirty="0"/>
              <a:t>Click icon to insert table</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D12358-51D2-46B3-9BDE-DF29528B9454}" type="slidenum">
              <a:rPr lang="en-US" smtClean="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2" name="Oval 21"/>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2" name="Title 1"/>
          <p:cNvSpPr>
            <a:spLocks noGrp="1"/>
          </p:cNvSpPr>
          <p:nvPr>
            <p:ph type="title" hasCustomPrompt="1"/>
          </p:nvPr>
        </p:nvSpPr>
        <p:spPr>
          <a:xfrm>
            <a:off x="550863" y="488315"/>
            <a:ext cx="11090274" cy="1332000"/>
          </a:xfrm>
        </p:spPr>
        <p:txBody>
          <a:bodyPr>
            <a:normAutofit/>
          </a:bodyPr>
          <a:lstStyle>
            <a:lvl1pPr>
              <a:lnSpc>
                <a:spcPct val="100000"/>
              </a:lnSpc>
              <a:defRPr sz="4000"/>
            </a:lvl1pPr>
          </a:lstStyle>
          <a:p>
            <a:r>
              <a:rPr lang="en-US" dirty="0"/>
              <a:t>Click to add title</a:t>
            </a:r>
          </a:p>
        </p:txBody>
      </p:sp>
      <p:grpSp>
        <p:nvGrpSpPr>
          <p:cNvPr id="11" name="Group 10"/>
          <p:cNvGrpSpPr/>
          <p:nvPr userDrawn="1"/>
        </p:nvGrpSpPr>
        <p:grpSpPr>
          <a:xfrm>
            <a:off x="10379261" y="2030035"/>
            <a:ext cx="1335600" cy="1262947"/>
            <a:chOff x="10145015" y="2343978"/>
            <a:chExt cx="1335600" cy="1262947"/>
          </a:xfrm>
        </p:grpSpPr>
        <p:sp>
          <p:nvSpPr>
            <p:cNvPr id="12" name="Freeform: Shape 25"/>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4" name="Oval 13"/>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sp>
        <p:nvSpPr>
          <p:cNvPr id="15" name="Freeform: Shape 21"/>
          <p:cNvSpPr>
            <a:spLocks noChangeAspect="1"/>
          </p:cNvSpPr>
          <p:nvPr userDrawn="1"/>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nvGrpSpPr>
          <p:cNvPr id="13" name="Group 12"/>
          <p:cNvGrpSpPr/>
          <p:nvPr/>
        </p:nvGrpSpPr>
        <p:grpSpPr>
          <a:xfrm>
            <a:off x="331786" y="5528198"/>
            <a:ext cx="631474" cy="667800"/>
            <a:chOff x="2994153" y="1378666"/>
            <a:chExt cx="631474" cy="667800"/>
          </a:xfrm>
        </p:grpSpPr>
        <p:sp>
          <p:nvSpPr>
            <p:cNvPr id="20" name="Freeform: Shape 19"/>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21" name="Oval 20"/>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sp>
        <p:nvSpPr>
          <p:cNvPr id="3" name="Content Placeholder 2"/>
          <p:cNvSpPr>
            <a:spLocks noGrp="1"/>
          </p:cNvSpPr>
          <p:nvPr>
            <p:ph sz="half" idx="1" hasCustomPrompt="1"/>
          </p:nvPr>
        </p:nvSpPr>
        <p:spPr>
          <a:xfrm>
            <a:off x="550862" y="1965095"/>
            <a:ext cx="5435600" cy="3995650"/>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sz="half" idx="13" hasCustomPrompt="1"/>
          </p:nvPr>
        </p:nvSpPr>
        <p:spPr>
          <a:xfrm>
            <a:off x="6301305" y="1965095"/>
            <a:ext cx="5339397" cy="3995650"/>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560961"/>
            <a:ext cx="11090275" cy="1186560"/>
          </a:xfrm>
        </p:spPr>
        <p:txBody>
          <a:bodyPr anchor="t" anchorCtr="0">
            <a:noAutofit/>
          </a:bodyPr>
          <a:lstStyle>
            <a:lvl1pPr>
              <a:defRPr sz="4000"/>
            </a:lvl1pPr>
          </a:lstStyle>
          <a:p>
            <a:r>
              <a:rPr lang="en-US" dirty="0"/>
              <a:t>Click to add title</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D12358-51D2-46B3-9BDE-DF29528B9454}" type="slidenum">
              <a:rPr lang="en-US" smtClean="0"/>
              <a:t>‹#›</a:t>
            </a:fld>
            <a:endParaRPr lang="en-US" dirty="0"/>
          </a:p>
        </p:txBody>
      </p:sp>
      <p:sp>
        <p:nvSpPr>
          <p:cNvPr id="3" name="Content Placeholder 2"/>
          <p:cNvSpPr>
            <a:spLocks noGrp="1"/>
          </p:cNvSpPr>
          <p:nvPr>
            <p:ph sz="half" idx="1" hasCustomPrompt="1"/>
          </p:nvPr>
        </p:nvSpPr>
        <p:spPr>
          <a:xfrm>
            <a:off x="550861" y="1917064"/>
            <a:ext cx="11090275" cy="4297679"/>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Oval 6"/>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2" name="Title 1"/>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p:cNvGrpSpPr/>
          <p:nvPr userDrawn="1"/>
        </p:nvGrpSpPr>
        <p:grpSpPr>
          <a:xfrm>
            <a:off x="594036" y="5610392"/>
            <a:ext cx="667802" cy="631474"/>
            <a:chOff x="10478914" y="1506691"/>
            <a:chExt cx="667802" cy="631474"/>
          </a:xfrm>
        </p:grpSpPr>
        <p:sp>
          <p:nvSpPr>
            <p:cNvPr id="10" name="Freeform: Shape 15"/>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1" fmla="*/ 540000 w 1080000"/>
                <a:gd name="connsiteY0-2" fmla="*/ 0 h 1262947"/>
                <a:gd name="connsiteX1-3" fmla="*/ 1080000 w 1080000"/>
                <a:gd name="connsiteY1-4" fmla="*/ 931034 h 1262947"/>
                <a:gd name="connsiteX2-5" fmla="*/ 1064374 w 1080000"/>
                <a:gd name="connsiteY2-6" fmla="*/ 931034 h 1262947"/>
                <a:gd name="connsiteX3-7" fmla="*/ 1069029 w 1080000"/>
                <a:gd name="connsiteY3-8" fmla="*/ 938533 h 1262947"/>
                <a:gd name="connsiteX4-9" fmla="*/ 1080000 w 1080000"/>
                <a:gd name="connsiteY4-10" fmla="*/ 992947 h 1262947"/>
                <a:gd name="connsiteX5-11" fmla="*/ 540000 w 1080000"/>
                <a:gd name="connsiteY5-12" fmla="*/ 1262947 h 1262947"/>
                <a:gd name="connsiteX6-13" fmla="*/ 0 w 1080000"/>
                <a:gd name="connsiteY6-14" fmla="*/ 992947 h 1262947"/>
                <a:gd name="connsiteX7-15" fmla="*/ 10971 w 1080000"/>
                <a:gd name="connsiteY7-16" fmla="*/ 938533 h 1262947"/>
                <a:gd name="connsiteX8-17" fmla="*/ 15626 w 1080000"/>
                <a:gd name="connsiteY8-18" fmla="*/ 931034 h 1262947"/>
                <a:gd name="connsiteX9-19" fmla="*/ 540000 w 1080000"/>
                <a:gd name="connsiteY9-20" fmla="*/ 0 h 1262947"/>
                <a:gd name="connsiteX0-21" fmla="*/ 540000 w 1080000"/>
                <a:gd name="connsiteY0-22" fmla="*/ 0 h 1262947"/>
                <a:gd name="connsiteX1-23" fmla="*/ 1064374 w 1080000"/>
                <a:gd name="connsiteY1-24" fmla="*/ 931034 h 1262947"/>
                <a:gd name="connsiteX2-25" fmla="*/ 1069029 w 1080000"/>
                <a:gd name="connsiteY2-26" fmla="*/ 938533 h 1262947"/>
                <a:gd name="connsiteX3-27" fmla="*/ 1080000 w 1080000"/>
                <a:gd name="connsiteY3-28" fmla="*/ 992947 h 1262947"/>
                <a:gd name="connsiteX4-29" fmla="*/ 540000 w 1080000"/>
                <a:gd name="connsiteY4-30" fmla="*/ 1262947 h 1262947"/>
                <a:gd name="connsiteX5-31" fmla="*/ 0 w 1080000"/>
                <a:gd name="connsiteY5-32" fmla="*/ 992947 h 1262947"/>
                <a:gd name="connsiteX6-33" fmla="*/ 10971 w 1080000"/>
                <a:gd name="connsiteY6-34" fmla="*/ 938533 h 1262947"/>
                <a:gd name="connsiteX7-35" fmla="*/ 15626 w 1080000"/>
                <a:gd name="connsiteY7-36" fmla="*/ 931034 h 1262947"/>
                <a:gd name="connsiteX8-37" fmla="*/ 540000 w 1080000"/>
                <a:gd name="connsiteY8-38" fmla="*/ 0 h 12629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1" name="Oval 10"/>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grpSp>
        <p:nvGrpSpPr>
          <p:cNvPr id="12" name="Group 11"/>
          <p:cNvGrpSpPr/>
          <p:nvPr/>
        </p:nvGrpSpPr>
        <p:grpSpPr>
          <a:xfrm>
            <a:off x="613998" y="5334748"/>
            <a:ext cx="678135" cy="990000"/>
            <a:chOff x="10490969" y="1448827"/>
            <a:chExt cx="678135" cy="990000"/>
          </a:xfrm>
        </p:grpSpPr>
        <p:sp>
          <p:nvSpPr>
            <p:cNvPr id="13" name="Freeform: Shape 12"/>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5" name="Oval 14"/>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16" name="Freeform: Shape 15"/>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itle 6"/>
          <p:cNvSpPr>
            <a:spLocks noGrp="1"/>
          </p:cNvSpPr>
          <p:nvPr>
            <p:ph type="ctrTitle"/>
          </p:nvPr>
        </p:nvSpPr>
        <p:spPr>
          <a:xfrm>
            <a:off x="874815" y="2322703"/>
            <a:ext cx="5221185" cy="1495098"/>
          </a:xfrm>
        </p:spPr>
        <p:txBody>
          <a:bodyPr vert="horz" lIns="91440" tIns="45720" rIns="91440" bIns="45720" rtlCol="0" anchor="b">
            <a:normAutofit/>
          </a:bodyPr>
          <a:lstStyle/>
          <a:p>
            <a:r>
              <a:rPr lang="en-US" sz="6000" kern="1200" dirty="0">
                <a:latin typeface="+mj-lt"/>
                <a:ea typeface="+mj-ea"/>
                <a:cs typeface="+mj-cs"/>
              </a:rPr>
              <a:t>Java SE</a:t>
            </a:r>
            <a:r>
              <a:rPr lang="en-US" sz="6000" dirty="0"/>
              <a:t> </a:t>
            </a:r>
            <a:r>
              <a:rPr lang="en-US" sz="1600" dirty="0"/>
              <a:t>cont.</a:t>
            </a:r>
            <a:endParaRPr lang="en-US" sz="1600" kern="1200" dirty="0">
              <a:latin typeface="+mj-lt"/>
              <a:ea typeface="+mj-ea"/>
              <a:cs typeface="+mj-cs"/>
            </a:endParaRPr>
          </a:p>
        </p:txBody>
      </p:sp>
      <p:sp>
        <p:nvSpPr>
          <p:cNvPr id="8" name="Subtitle 7"/>
          <p:cNvSpPr>
            <a:spLocks noGrp="1"/>
          </p:cNvSpPr>
          <p:nvPr>
            <p:ph type="subTitle" idx="1"/>
          </p:nvPr>
        </p:nvSpPr>
        <p:spPr>
          <a:xfrm>
            <a:off x="870148" y="3962792"/>
            <a:ext cx="5221185" cy="2102108"/>
          </a:xfrm>
        </p:spPr>
        <p:txBody>
          <a:bodyPr vert="horz" lIns="91440" tIns="45720" rIns="91440" bIns="45720" rtlCol="0" anchor="t">
            <a:normAutofit/>
          </a:bodyPr>
          <a:lstStyle/>
          <a:p>
            <a:pPr>
              <a:lnSpc>
                <a:spcPct val="90000"/>
              </a:lnSpc>
            </a:pPr>
            <a:r>
              <a:rPr lang="en-US" sz="2400" kern="1200" dirty="0">
                <a:latin typeface="+mn-lt"/>
                <a:ea typeface="+mn-ea"/>
                <a:cs typeface="+mn-cs"/>
              </a:rPr>
              <a:t>Presented By – Srigowri N </a:t>
            </a:r>
          </a:p>
          <a:p>
            <a:pPr>
              <a:lnSpc>
                <a:spcPct val="90000"/>
              </a:lnSpc>
            </a:pPr>
            <a:r>
              <a:rPr lang="en-US" sz="2400" dirty="0"/>
              <a:t>23rd</a:t>
            </a:r>
            <a:r>
              <a:rPr lang="en-US" sz="2400" kern="1200" dirty="0">
                <a:latin typeface="+mn-lt"/>
                <a:ea typeface="+mn-ea"/>
                <a:cs typeface="+mn-cs"/>
              </a:rPr>
              <a:t> May 2025</a:t>
            </a:r>
            <a:endParaRPr lang="en-US" sz="2400" kern="1200" dirty="0">
              <a:latin typeface="+mn-lt"/>
            </a:endParaRPr>
          </a:p>
        </p:txBody>
      </p:sp>
      <p:sp>
        <p:nvSpPr>
          <p:cNvPr id="35" name="Freeform: Shape 34">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Placeholder 7" descr="Data Points Digital background"/>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4893" r="10471" b="9091"/>
          <a:stretch>
            <a:fillRect/>
          </a:stretch>
        </p:blipFill>
        <p:spPr>
          <a:xfrm>
            <a:off x="6651243" y="1283600"/>
            <a:ext cx="4939504" cy="3907852"/>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38" name="Freeform: Shape 3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 name="Freeform: Shape 2">
            <a:extLst>
              <a:ext uri="{FF2B5EF4-FFF2-40B4-BE49-F238E27FC236}">
                <a16:creationId xmlns:a16="http://schemas.microsoft.com/office/drawing/2014/main" id="{E326FD7F-36DB-10BF-2119-526569FECD5C}"/>
              </a:ext>
            </a:extLst>
          </p:cNvPr>
          <p:cNvSpPr>
            <a:spLocks noGrp="1" noRot="1" noChangeAspect="1" noMove="1" noResize="1" noEditPoints="1" noAdjustHandles="1" noChangeArrowheads="1" noChangeShapeType="1" noTextEdit="1"/>
          </p:cNvSpPr>
          <p:nvPr/>
        </p:nvSpPr>
        <p:spPr>
          <a:xfrm rot="13500000">
            <a:off x="476583" y="4760475"/>
            <a:ext cx="1853969" cy="1042921"/>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75000"/>
              <a:lumOff val="25000"/>
              <a:alpha val="6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p:cNvGrpSpPr>
            <a:grpSpLocks noGrp="1" noUngrp="1" noRot="1" noChangeAspect="1" noMove="1" noResize="1"/>
          </p:cNvGrpSpPr>
          <p:nvPr/>
        </p:nvGrpSpPr>
        <p:grpSpPr>
          <a:xfrm>
            <a:off x="613998" y="5334748"/>
            <a:ext cx="678135" cy="990000"/>
            <a:chOff x="10490969" y="1448827"/>
            <a:chExt cx="678135" cy="990000"/>
          </a:xfrm>
        </p:grpSpPr>
        <p:sp>
          <p:nvSpPr>
            <p:cNvPr id="19" name="Freeform: Shape 18"/>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Oval 9"/>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1" name="Oval 10"/>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2" name="Freeform: Shape 11"/>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useBgFill="1">
        <p:nvSpPr>
          <p:cNvPr id="14" name="Rectangle 13"/>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62816" y="1510242"/>
            <a:ext cx="8578320" cy="1343640"/>
          </a:xfrm>
        </p:spPr>
        <p:txBody>
          <a:bodyPr vert="horz" wrap="square" lIns="0" tIns="0" rIns="0" bIns="0" rtlCol="0" anchor="t" anchorCtr="0">
            <a:normAutofit/>
          </a:bodyPr>
          <a:lstStyle/>
          <a:p>
            <a:pPr>
              <a:lnSpc>
                <a:spcPct val="100000"/>
              </a:lnSpc>
            </a:pPr>
            <a:r>
              <a:rPr lang="en-US" sz="4800" dirty="0"/>
              <a:t>Agenda</a:t>
            </a:r>
          </a:p>
        </p:txBody>
      </p:sp>
      <p:sp>
        <p:nvSpPr>
          <p:cNvPr id="16" name="Oval 15"/>
          <p:cNvSpPr>
            <a:spLocks noGrp="1" noRot="1" noChangeAspect="1" noMove="1" noResize="1" noEditPoints="1" noAdjustHandles="1" noChangeArrowheads="1" noChangeShapeType="1" noTextEdit="1"/>
          </p:cNvSpPr>
          <p:nvPr/>
        </p:nvSpPr>
        <p:spPr>
          <a:xfrm>
            <a:off x="1915959" y="218735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8" name="Freeform: Shape 17"/>
          <p:cNvSpPr>
            <a:spLocks noGrp="1" noRot="1" noChangeAspect="1" noMove="1" noResize="1" noEditPoints="1" noAdjustHandles="1" noChangeArrowheads="1" noChangeShapeType="1" noTextEdit="1"/>
          </p:cNvSpPr>
          <p:nvPr/>
        </p:nvSpPr>
        <p:spPr>
          <a:xfrm rot="13500000">
            <a:off x="373008" y="4919835"/>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96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Freeform: Shape 19"/>
          <p:cNvSpPr>
            <a:spLocks noGrp="1" noRot="1" noChangeAspect="1" noMove="1" noResize="1" noEditPoints="1" noAdjustHandles="1" noChangeArrowheads="1" noChangeShapeType="1" noTextEdit="1"/>
          </p:cNvSpPr>
          <p:nvPr/>
        </p:nvSpPr>
        <p:spPr>
          <a:xfrm rot="13500000">
            <a:off x="476583" y="4760475"/>
            <a:ext cx="1853969" cy="1042921"/>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75000"/>
              <a:lumOff val="25000"/>
              <a:alpha val="6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Oval 21"/>
          <p:cNvSpPr>
            <a:spLocks noGrp="1" noRot="1" noChangeAspect="1" noMove="1" noResize="1" noEditPoints="1" noAdjustHandles="1" noChangeArrowheads="1" noChangeShapeType="1" noTextEdit="1"/>
          </p:cNvSpPr>
          <p:nvPr/>
        </p:nvSpPr>
        <p:spPr>
          <a:xfrm rot="18900000">
            <a:off x="1085139" y="4330312"/>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4" name="Oval 23"/>
          <p:cNvSpPr>
            <a:spLocks noGrp="1" noRot="1" noChangeAspect="1" noMove="1" noResize="1" noEditPoints="1" noAdjustHandles="1" noChangeArrowheads="1" noChangeShapeType="1" noTextEdit="1"/>
          </p:cNvSpPr>
          <p:nvPr/>
        </p:nvSpPr>
        <p:spPr>
          <a:xfrm rot="18900000">
            <a:off x="2066166" y="5311337"/>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4" name="TextBox 3"/>
          <p:cNvSpPr txBox="1"/>
          <p:nvPr/>
        </p:nvSpPr>
        <p:spPr>
          <a:xfrm>
            <a:off x="3174999" y="2698750"/>
            <a:ext cx="439737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buFont typeface="Wingdings" panose="05000000000000000000"/>
              <a:buChar char="Ø"/>
            </a:pPr>
            <a:r>
              <a:rPr lang="en-US" dirty="0">
                <a:ea typeface="+mn-lt"/>
                <a:cs typeface="+mn-lt"/>
              </a:rPr>
              <a:t>Inner Classes </a:t>
            </a:r>
            <a:endParaRPr lang="en-US" dirty="0"/>
          </a:p>
          <a:p>
            <a:pPr marL="285750" indent="-285750">
              <a:buFont typeface="Wingdings" panose="05000000000000000000"/>
              <a:buChar char="Ø"/>
            </a:pPr>
            <a:endParaRPr lang="en-US"/>
          </a:p>
          <a:p>
            <a:pPr marL="285750" indent="-285750">
              <a:buFont typeface="Wingdings" panose="05000000000000000000"/>
              <a:buChar char="Ø"/>
            </a:pPr>
            <a:r>
              <a:rPr lang="en-US" dirty="0">
                <a:ea typeface="+mn-lt"/>
                <a:cs typeface="+mn-lt"/>
              </a:rPr>
              <a:t>Formatting and Regex </a:t>
            </a:r>
            <a:endParaRPr lang="en-US" dirty="0"/>
          </a:p>
          <a:p>
            <a:pPr marL="285750" indent="-285750">
              <a:buFont typeface="Wingdings" panose="05000000000000000000"/>
              <a:buChar char="Ø"/>
            </a:pPr>
            <a:endParaRPr lang="en-US"/>
          </a:p>
          <a:p>
            <a:pPr marL="285750" indent="-285750">
              <a:buFont typeface="Wingdings" panose="05000000000000000000"/>
              <a:buChar char="Ø"/>
            </a:pPr>
            <a:r>
              <a:rPr lang="en-US" dirty="0">
                <a:ea typeface="+mn-lt"/>
                <a:cs typeface="+mn-lt"/>
              </a:rPr>
              <a:t>Using Streams for I/O </a:t>
            </a:r>
            <a:endParaRPr lang="en-US" dirty="0"/>
          </a:p>
          <a:p>
            <a:pPr marL="285750" indent="-285750">
              <a:buFont typeface="Wingdings" panose="05000000000000000000"/>
              <a:buChar char="Ø"/>
            </a:pPr>
            <a:endParaRPr lang="en-US"/>
          </a:p>
          <a:p>
            <a:pPr marL="285750" indent="-285750">
              <a:buFont typeface="Wingdings" panose="05000000000000000000"/>
              <a:buChar char="Ø"/>
            </a:pPr>
            <a:r>
              <a:rPr lang="en-US" dirty="0">
                <a:ea typeface="+mn-lt"/>
                <a:cs typeface="+mn-lt"/>
              </a:rPr>
              <a:t>Exception Handling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Group 12"/>
          <p:cNvGrpSpPr>
            <a:grpSpLocks noGrp="1" noUngrp="1" noRot="1" noChangeAspect="1" noMove="1" noResize="1"/>
          </p:cNvGrpSpPr>
          <p:nvPr/>
        </p:nvGrpSpPr>
        <p:grpSpPr>
          <a:xfrm>
            <a:off x="613998" y="5334748"/>
            <a:ext cx="678135" cy="990000"/>
            <a:chOff x="10490969" y="1448827"/>
            <a:chExt cx="678135" cy="990000"/>
          </a:xfrm>
        </p:grpSpPr>
        <p:sp>
          <p:nvSpPr>
            <p:cNvPr id="14" name="Freeform: Shape 13"/>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Oval 14"/>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6" name="Oval 15"/>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7" name="Freeform: Shape 16"/>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useBgFill="1">
        <p:nvSpPr>
          <p:cNvPr id="19" name="Rectangle 1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ctrTitle"/>
          </p:nvPr>
        </p:nvSpPr>
        <p:spPr>
          <a:xfrm>
            <a:off x="3359149" y="991300"/>
            <a:ext cx="8281987" cy="1190989"/>
          </a:xfrm>
        </p:spPr>
        <p:txBody>
          <a:bodyPr vert="horz" wrap="square" lIns="0" tIns="0" rIns="0" bIns="0" rtlCol="0" anchor="t" anchorCtr="0">
            <a:normAutofit/>
          </a:bodyPr>
          <a:lstStyle/>
          <a:p>
            <a:pPr>
              <a:lnSpc>
                <a:spcPct val="100000"/>
              </a:lnSpc>
            </a:pPr>
            <a:r>
              <a:rPr lang="en-US" sz="4800"/>
              <a:t>Inner Classes</a:t>
            </a:r>
          </a:p>
        </p:txBody>
      </p:sp>
      <p:sp>
        <p:nvSpPr>
          <p:cNvPr id="21" name="Oval 20"/>
          <p:cNvSpPr>
            <a:spLocks noGrp="1" noRot="1" noChangeAspect="1" noMove="1" noResize="1" noEditPoints="1" noAdjustHandles="1" noChangeArrowheads="1" noChangeShapeType="1" noTextEdit="1"/>
          </p:cNvSpPr>
          <p:nvPr/>
        </p:nvSpPr>
        <p:spPr>
          <a:xfrm>
            <a:off x="1915959" y="218735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8" name="TextBox 7"/>
          <p:cNvSpPr txBox="1"/>
          <p:nvPr/>
        </p:nvSpPr>
        <p:spPr>
          <a:xfrm>
            <a:off x="3364651" y="2189935"/>
            <a:ext cx="7229574" cy="3902890"/>
          </a:xfrm>
          <a:prstGeom prst="rect">
            <a:avLst/>
          </a:prstGeom>
        </p:spPr>
        <p:txBody>
          <a:bodyPr rot="0" spcFirstLastPara="0" vertOverflow="overflow" horzOverflow="overflow" vert="horz" wrap="square" lIns="0" tIns="0" rIns="0" bIns="0" numCol="1" spcCol="0" rtlCol="0" fromWordArt="0" anchor="t" anchorCtr="0" forceAA="0" compatLnSpc="1">
            <a:noAutofit/>
          </a:bodyPr>
          <a:lstStyle/>
          <a:p>
            <a:pPr>
              <a:spcAft>
                <a:spcPts val="800"/>
              </a:spcAft>
            </a:pPr>
            <a:r>
              <a:rPr lang="en-US" sz="2000" dirty="0">
                <a:latin typeface="Calibri" panose="020F0502020204030204"/>
                <a:ea typeface="Calibri" panose="020F0502020204030204"/>
                <a:cs typeface="Calibri" panose="020F0502020204030204"/>
              </a:rPr>
              <a:t>An </a:t>
            </a:r>
            <a:r>
              <a:rPr lang="en-US" sz="2000" b="1" dirty="0">
                <a:latin typeface="Calibri" panose="020F0502020204030204"/>
                <a:ea typeface="Calibri" panose="020F0502020204030204"/>
                <a:cs typeface="Calibri" panose="020F0502020204030204"/>
              </a:rPr>
              <a:t>inner class</a:t>
            </a:r>
            <a:r>
              <a:rPr lang="en-US" sz="2000" dirty="0">
                <a:latin typeface="Calibri" panose="020F0502020204030204"/>
                <a:ea typeface="Calibri" panose="020F0502020204030204"/>
                <a:cs typeface="Calibri" panose="020F0502020204030204"/>
              </a:rPr>
              <a:t> (or nested class) is a class defined inside another class. It helps in logically grouping classes, improves encapsulation, and can access outer class members (even private ones).</a:t>
            </a:r>
          </a:p>
          <a:p>
            <a:pPr indent="-228600">
              <a:spcAft>
                <a:spcPts val="800"/>
              </a:spcAft>
              <a:buFont typeface="Arial" panose="020B0604020202020204" pitchFamily="34" charset="0"/>
              <a:buChar char="•"/>
            </a:pPr>
            <a:endParaRPr lang="en-US" sz="2000" dirty="0">
              <a:latin typeface="Calibri" panose="020F0502020204030204"/>
              <a:ea typeface="Calibri" panose="020F0502020204030204"/>
              <a:cs typeface="Calibri" panose="020F0502020204030204"/>
            </a:endParaRPr>
          </a:p>
          <a:p>
            <a:pPr>
              <a:spcAft>
                <a:spcPts val="800"/>
              </a:spcAft>
            </a:pPr>
            <a:r>
              <a:rPr lang="en-US" sz="2000" b="1" dirty="0">
                <a:latin typeface="Calibri" panose="020F0502020204030204"/>
                <a:ea typeface="Calibri" panose="020F0502020204030204"/>
                <a:cs typeface="Calibri" panose="020F0502020204030204"/>
              </a:rPr>
              <a:t>Inner class types:</a:t>
            </a:r>
            <a:endParaRPr lang="en-US" sz="2000" dirty="0">
              <a:latin typeface="Calibri" panose="020F0502020204030204"/>
              <a:ea typeface="Calibri" panose="020F0502020204030204"/>
              <a:cs typeface="Calibri" panose="020F0502020204030204"/>
            </a:endParaRPr>
          </a:p>
          <a:p>
            <a:pPr marL="228600" indent="-228600">
              <a:spcAft>
                <a:spcPts val="800"/>
              </a:spcAft>
              <a:buFont typeface="Arial" panose="020B0604020202020204" pitchFamily="34" charset="0"/>
              <a:buChar char="•"/>
            </a:pPr>
            <a:r>
              <a:rPr lang="en-US" sz="2000" dirty="0">
                <a:latin typeface="Calibri" panose="020F0502020204030204"/>
                <a:ea typeface="Calibri" panose="020F0502020204030204"/>
                <a:cs typeface="Calibri" panose="020F0502020204030204"/>
              </a:rPr>
              <a:t>Non static (Member) Inner class</a:t>
            </a:r>
          </a:p>
          <a:p>
            <a:pPr marL="228600" indent="-228600">
              <a:spcAft>
                <a:spcPts val="800"/>
              </a:spcAft>
              <a:buFont typeface="Arial" panose="020B0604020202020204" pitchFamily="34" charset="0"/>
              <a:buChar char="•"/>
            </a:pPr>
            <a:r>
              <a:rPr lang="en-US" sz="2000" dirty="0">
                <a:latin typeface="Calibri" panose="020F0502020204030204"/>
                <a:ea typeface="Calibri" panose="020F0502020204030204"/>
                <a:cs typeface="Calibri" panose="020F0502020204030204"/>
              </a:rPr>
              <a:t>Static Inner class</a:t>
            </a:r>
          </a:p>
          <a:p>
            <a:pPr marL="228600" indent="-228600">
              <a:spcAft>
                <a:spcPts val="800"/>
              </a:spcAft>
              <a:buFont typeface="Arial" panose="020B0604020202020204" pitchFamily="34" charset="0"/>
              <a:buChar char="•"/>
            </a:pPr>
            <a:r>
              <a:rPr lang="en-US" sz="2000" dirty="0">
                <a:latin typeface="Calibri" panose="020F0502020204030204"/>
                <a:ea typeface="Calibri" panose="020F0502020204030204"/>
                <a:cs typeface="Calibri" panose="020F0502020204030204"/>
              </a:rPr>
              <a:t>Local Inner class</a:t>
            </a:r>
          </a:p>
          <a:p>
            <a:pPr marL="228600" indent="-228600">
              <a:spcAft>
                <a:spcPts val="800"/>
              </a:spcAft>
              <a:buFont typeface="Arial" panose="020B0604020202020204" pitchFamily="34" charset="0"/>
              <a:buChar char="•"/>
            </a:pPr>
            <a:r>
              <a:rPr lang="en-US" sz="2000" dirty="0">
                <a:latin typeface="Calibri" panose="020F0502020204030204"/>
                <a:ea typeface="Calibri" panose="020F0502020204030204"/>
                <a:cs typeface="Calibri" panose="020F0502020204030204"/>
              </a:rPr>
              <a:t>Anonymous Inner class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8791" y="498474"/>
            <a:ext cx="7942492" cy="930265"/>
          </a:xfrm>
        </p:spPr>
        <p:txBody>
          <a:bodyPr/>
          <a:lstStyle/>
          <a:p>
            <a:pPr marL="742950" indent="-742950">
              <a:buAutoNum type="arabicPeriod"/>
            </a:pPr>
            <a:r>
              <a:rPr lang="en-US" dirty="0"/>
              <a:t>Member Inner Class</a:t>
            </a:r>
          </a:p>
        </p:txBody>
      </p:sp>
      <p:sp>
        <p:nvSpPr>
          <p:cNvPr id="3" name="Content Placeholder 2"/>
          <p:cNvSpPr>
            <a:spLocks noGrp="1"/>
          </p:cNvSpPr>
          <p:nvPr>
            <p:ph idx="1"/>
          </p:nvPr>
        </p:nvSpPr>
        <p:spPr>
          <a:xfrm>
            <a:off x="571317" y="1681934"/>
            <a:ext cx="7939966" cy="4400730"/>
          </a:xfrm>
        </p:spPr>
        <p:txBody>
          <a:bodyPr vert="horz" wrap="square" lIns="0" tIns="0" rIns="0" bIns="0" rtlCol="0" anchor="t">
            <a:normAutofit/>
          </a:bodyPr>
          <a:lstStyle/>
          <a:p>
            <a:r>
              <a:rPr lang="en-US" dirty="0">
                <a:ea typeface="+mn-lt"/>
                <a:cs typeface="+mn-lt"/>
              </a:rPr>
              <a:t>It can access any instance variables and other members of the outer class. </a:t>
            </a:r>
          </a:p>
          <a:p>
            <a:r>
              <a:rPr lang="en-US" dirty="0">
                <a:ea typeface="+mn-lt"/>
                <a:cs typeface="+mn-lt"/>
              </a:rPr>
              <a:t>Like any other instance variable, we can have access modifier private, protected, public, and default modifier. </a:t>
            </a:r>
          </a:p>
          <a:p>
            <a:r>
              <a:rPr lang="en-US" dirty="0">
                <a:ea typeface="+mn-lt"/>
                <a:cs typeface="+mn-lt"/>
              </a:rPr>
              <a:t>Inner class is implicitly associated with the object of its outer class and hence the inner class couldn't define a static method.</a:t>
            </a:r>
            <a:endParaRPr lang="en-US" dirty="0"/>
          </a:p>
          <a:p>
            <a:r>
              <a:rPr lang="en-US" dirty="0">
                <a:ea typeface="+mn-lt"/>
                <a:cs typeface="+mn-lt"/>
              </a:rPr>
              <a:t>But Since JAVA Version 16 we can have static members in the inner class.</a:t>
            </a:r>
            <a:endParaRPr lang="en-US" dirty="0"/>
          </a:p>
          <a:p>
            <a:r>
              <a:rPr lang="en-US" dirty="0">
                <a:ea typeface="+mn-lt"/>
                <a:cs typeface="+mn-lt"/>
              </a:rPr>
              <a:t>Like class, an interface can also be nested and can have access specifiers. </a:t>
            </a:r>
          </a:p>
          <a:p>
            <a:r>
              <a:rPr lang="en-US" dirty="0">
                <a:ea typeface="+mn-lt"/>
                <a:cs typeface="+mn-lt"/>
              </a:rPr>
              <a:t>Uses: Event handling, helper classes.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8791" y="498474"/>
            <a:ext cx="7942492" cy="930265"/>
          </a:xfrm>
        </p:spPr>
        <p:txBody>
          <a:bodyPr/>
          <a:lstStyle/>
          <a:p>
            <a:r>
              <a:rPr lang="en-US"/>
              <a:t>2. Static Inner Class</a:t>
            </a:r>
          </a:p>
        </p:txBody>
      </p:sp>
      <p:sp>
        <p:nvSpPr>
          <p:cNvPr id="3" name="Content Placeholder 2"/>
          <p:cNvSpPr>
            <a:spLocks noGrp="1"/>
          </p:cNvSpPr>
          <p:nvPr>
            <p:ph idx="1"/>
          </p:nvPr>
        </p:nvSpPr>
        <p:spPr>
          <a:xfrm>
            <a:off x="571317" y="1681934"/>
            <a:ext cx="7939966" cy="4400730"/>
          </a:xfrm>
        </p:spPr>
        <p:txBody>
          <a:bodyPr vert="horz" wrap="square" lIns="0" tIns="0" rIns="0" bIns="0" rtlCol="0" anchor="t">
            <a:normAutofit/>
          </a:bodyPr>
          <a:lstStyle/>
          <a:p>
            <a:r>
              <a:rPr lang="en-US" dirty="0">
                <a:solidFill>
                  <a:srgbClr val="FFFFFF"/>
                </a:solidFill>
                <a:ea typeface="+mn-lt"/>
                <a:cs typeface="+mn-lt"/>
              </a:rPr>
              <a:t>Static Inner Classes are like a static members of outer class. </a:t>
            </a:r>
            <a:endParaRPr lang="en-US" dirty="0">
              <a:ea typeface="+mn-lt"/>
              <a:cs typeface="+mn-lt"/>
            </a:endParaRPr>
          </a:p>
          <a:p>
            <a:r>
              <a:rPr lang="en-US" dirty="0">
                <a:ea typeface="+mn-lt"/>
                <a:cs typeface="+mn-lt"/>
              </a:rPr>
              <a:t>Defined with static and cannot access non-static outer class members.</a:t>
            </a:r>
          </a:p>
          <a:p>
            <a:r>
              <a:rPr lang="en-US" dirty="0">
                <a:ea typeface="+mn-lt"/>
                <a:cs typeface="+mn-lt"/>
              </a:rPr>
              <a:t>Creating an instance of the inner class does not require an instance of the outer class to exist.</a:t>
            </a:r>
            <a:endParaRPr lang="en-US" dirty="0"/>
          </a:p>
          <a:p>
            <a:r>
              <a:rPr lang="en-US" dirty="0">
                <a:ea typeface="+mn-lt"/>
                <a:cs typeface="+mn-lt"/>
              </a:rPr>
              <a:t>Uses: Utility classes, grouping related logic.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8791" y="498474"/>
            <a:ext cx="7942492" cy="930265"/>
          </a:xfrm>
        </p:spPr>
        <p:txBody>
          <a:bodyPr/>
          <a:lstStyle/>
          <a:p>
            <a:r>
              <a:rPr lang="en-US" dirty="0"/>
              <a:t>3. Local Inner Class</a:t>
            </a:r>
          </a:p>
        </p:txBody>
      </p:sp>
      <p:sp>
        <p:nvSpPr>
          <p:cNvPr id="3" name="Content Placeholder 2"/>
          <p:cNvSpPr>
            <a:spLocks noGrp="1"/>
          </p:cNvSpPr>
          <p:nvPr>
            <p:ph idx="1"/>
          </p:nvPr>
        </p:nvSpPr>
        <p:spPr>
          <a:xfrm>
            <a:off x="571317" y="1681934"/>
            <a:ext cx="7939966" cy="4400730"/>
          </a:xfrm>
        </p:spPr>
        <p:txBody>
          <a:bodyPr vert="horz" wrap="square" lIns="0" tIns="0" rIns="0" bIns="0" rtlCol="0" anchor="t">
            <a:normAutofit/>
          </a:bodyPr>
          <a:lstStyle/>
          <a:p>
            <a:r>
              <a:rPr lang="en-US" dirty="0">
                <a:solidFill>
                  <a:srgbClr val="FFFFFF"/>
                </a:solidFill>
                <a:ea typeface="+mn-lt"/>
                <a:cs typeface="+mn-lt"/>
              </a:rPr>
              <a:t>Defined inside a method/block. Only accessible within that method.</a:t>
            </a:r>
            <a:endParaRPr lang="en-US" dirty="0">
              <a:ea typeface="+mn-lt"/>
              <a:cs typeface="+mn-lt"/>
            </a:endParaRPr>
          </a:p>
          <a:p>
            <a:r>
              <a:rPr lang="en-US" dirty="0">
                <a:ea typeface="+mn-lt"/>
                <a:cs typeface="+mn-lt"/>
              </a:rPr>
              <a:t>Method Local inner classes cannot use a local variable of the outer method until that local variable is declared as final.</a:t>
            </a:r>
            <a:endParaRPr lang="en-US" dirty="0"/>
          </a:p>
          <a:p>
            <a:r>
              <a:rPr lang="en-US" dirty="0">
                <a:solidFill>
                  <a:srgbClr val="FFFFFF"/>
                </a:solidFill>
                <a:ea typeface="+mn-lt"/>
                <a:cs typeface="+mn-lt"/>
              </a:rPr>
              <a:t>Local inner class cannot access non-final local variable till JDK 1.7. Since JDK 1.8, it is possible to access the non-final local variable in method local inner class. </a:t>
            </a:r>
          </a:p>
          <a:p>
            <a:pPr>
              <a:buFont typeface="Arial" panose="020B0604020202020204"/>
            </a:pPr>
            <a:r>
              <a:rPr lang="en-US" dirty="0">
                <a:ea typeface="+mn-lt"/>
                <a:cs typeface="+mn-lt"/>
              </a:rPr>
              <a:t>Method local inner class can’t be marked as private, protected or static but can be marked as abstract and final, but not both at the same time.</a:t>
            </a:r>
            <a:endParaRPr lang="en-US" dirty="0"/>
          </a:p>
          <a:p>
            <a:r>
              <a:rPr lang="en-US" dirty="0">
                <a:ea typeface="+mn-lt"/>
                <a:cs typeface="+mn-lt"/>
              </a:rPr>
              <a:t>Uses:  method-specific logic.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8791" y="498474"/>
            <a:ext cx="7942492" cy="930265"/>
          </a:xfrm>
        </p:spPr>
        <p:txBody>
          <a:bodyPr/>
          <a:lstStyle/>
          <a:p>
            <a:r>
              <a:rPr lang="en-US"/>
              <a:t>4</a:t>
            </a:r>
            <a:r>
              <a:rPr lang="en-US" dirty="0"/>
              <a:t>. </a:t>
            </a:r>
            <a:r>
              <a:rPr lang="en-US"/>
              <a:t>Anonymous Inner</a:t>
            </a:r>
            <a:r>
              <a:rPr lang="en-US" dirty="0"/>
              <a:t> Class</a:t>
            </a:r>
          </a:p>
        </p:txBody>
      </p:sp>
      <p:sp>
        <p:nvSpPr>
          <p:cNvPr id="3" name="Content Placeholder 2"/>
          <p:cNvSpPr>
            <a:spLocks noGrp="1"/>
          </p:cNvSpPr>
          <p:nvPr>
            <p:ph idx="1"/>
          </p:nvPr>
        </p:nvSpPr>
        <p:spPr>
          <a:xfrm>
            <a:off x="571317" y="1681934"/>
            <a:ext cx="7939966" cy="4400730"/>
          </a:xfrm>
        </p:spPr>
        <p:txBody>
          <a:bodyPr vert="horz" wrap="square" lIns="0" tIns="0" rIns="0" bIns="0" rtlCol="0" anchor="t">
            <a:normAutofit/>
          </a:bodyPr>
          <a:lstStyle/>
          <a:p>
            <a:r>
              <a:rPr lang="en-US" dirty="0">
                <a:solidFill>
                  <a:srgbClr val="FFFFFF"/>
                </a:solidFill>
                <a:ea typeface="+mn-lt"/>
                <a:cs typeface="+mn-lt"/>
              </a:rPr>
              <a:t>Anonymous inner classes are declared without any name at all. They are created in two ways. </a:t>
            </a:r>
            <a:endParaRPr lang="en-US"/>
          </a:p>
          <a:p>
            <a:pPr lvl="1">
              <a:buAutoNum type="arabicPeriod"/>
            </a:pPr>
            <a:r>
              <a:rPr lang="en-US" sz="1800" dirty="0">
                <a:solidFill>
                  <a:srgbClr val="FFFFFF"/>
                </a:solidFill>
                <a:ea typeface="+mn-lt"/>
                <a:cs typeface="+mn-lt"/>
              </a:rPr>
              <a:t>As a subclass of the specified type</a:t>
            </a:r>
          </a:p>
          <a:p>
            <a:pPr lvl="1">
              <a:buAutoNum type="arabicPeriod"/>
            </a:pPr>
            <a:r>
              <a:rPr lang="en-US" sz="1800" dirty="0">
                <a:solidFill>
                  <a:srgbClr val="FFFFFF"/>
                </a:solidFill>
                <a:ea typeface="+mn-lt"/>
                <a:cs typeface="+mn-lt"/>
              </a:rPr>
              <a:t>As an implementer of the specified interface.</a:t>
            </a:r>
            <a:endParaRPr lang="en-US" sz="1800"/>
          </a:p>
          <a:p>
            <a:r>
              <a:rPr lang="en-US" dirty="0"/>
              <a:t>Cannot have a constructor.</a:t>
            </a:r>
          </a:p>
          <a:p>
            <a:r>
              <a:rPr lang="en-US" dirty="0">
                <a:ea typeface="+mn-lt"/>
                <a:cs typeface="+mn-lt"/>
              </a:rPr>
              <a:t>Uses:  Overriding methods on-the-fly,                                                             (e.g., GUI listeners </a:t>
            </a:r>
            <a:r>
              <a:rPr lang="en-US" err="1">
                <a:ea typeface="+mn-lt"/>
                <a:cs typeface="+mn-lt"/>
              </a:rPr>
              <a:t>Button.setOnClickListener</a:t>
            </a:r>
            <a:r>
              <a:rPr lang="en-US" dirty="0">
                <a:ea typeface="+mn-lt"/>
                <a:cs typeface="+mn-lt"/>
              </a:rPr>
              <a:t>() in Android).</a:t>
            </a:r>
            <a:endParaRPr lang="en-US" dirty="0"/>
          </a:p>
          <a:p>
            <a:endParaRPr lang="en-US" dirty="0">
              <a:solidFill>
                <a:srgbClr val="FFFFFF"/>
              </a:solidFill>
              <a:ea typeface="+mn-lt"/>
              <a:cs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Group 12"/>
          <p:cNvGrpSpPr>
            <a:grpSpLocks noGrp="1" noUngrp="1" noRot="1" noChangeAspect="1" noMove="1" noResize="1"/>
          </p:cNvGrpSpPr>
          <p:nvPr/>
        </p:nvGrpSpPr>
        <p:grpSpPr>
          <a:xfrm>
            <a:off x="613998" y="5334748"/>
            <a:ext cx="678135" cy="990000"/>
            <a:chOff x="10490969" y="1448827"/>
            <a:chExt cx="678135" cy="990000"/>
          </a:xfrm>
        </p:grpSpPr>
        <p:sp>
          <p:nvSpPr>
            <p:cNvPr id="14" name="Freeform: Shape 13"/>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Oval 14"/>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6" name="Oval 15"/>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7" name="Freeform: Shape 16"/>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useBgFill="1">
        <p:nvSpPr>
          <p:cNvPr id="19" name="Rectangle 1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ctrTitle"/>
          </p:nvPr>
        </p:nvSpPr>
        <p:spPr>
          <a:xfrm>
            <a:off x="3188702" y="1009484"/>
            <a:ext cx="8452434" cy="1142556"/>
          </a:xfrm>
        </p:spPr>
        <p:txBody>
          <a:bodyPr vert="horz" wrap="square" lIns="0" tIns="0" rIns="0" bIns="0" rtlCol="0" anchor="t" anchorCtr="0">
            <a:normAutofit/>
          </a:bodyPr>
          <a:lstStyle/>
          <a:p>
            <a:pPr>
              <a:lnSpc>
                <a:spcPct val="100000"/>
              </a:lnSpc>
            </a:pPr>
            <a:r>
              <a:rPr lang="en-US" sz="4800" dirty="0"/>
              <a:t>Formatting and Regex</a:t>
            </a:r>
          </a:p>
        </p:txBody>
      </p:sp>
      <p:sp>
        <p:nvSpPr>
          <p:cNvPr id="8" name="TextBox 7"/>
          <p:cNvSpPr txBox="1"/>
          <p:nvPr/>
        </p:nvSpPr>
        <p:spPr>
          <a:xfrm>
            <a:off x="3194205" y="2147960"/>
            <a:ext cx="7851204" cy="2190260"/>
          </a:xfrm>
          <a:prstGeom prst="rect">
            <a:avLst/>
          </a:prstGeom>
        </p:spPr>
        <p:txBody>
          <a:bodyPr rot="0" spcFirstLastPara="0" vertOverflow="overflow" horzOverflow="overflow" vert="horz" wrap="square" lIns="0" tIns="0" rIns="0" bIns="0" numCol="1" spcCol="0" rtlCol="0" fromWordArt="0" anchor="t" anchorCtr="0" forceAA="0" compatLnSpc="1">
            <a:noAutofit/>
          </a:bodyPr>
          <a:lstStyle/>
          <a:p>
            <a:r>
              <a:rPr lang="en-US" sz="2200" dirty="0">
                <a:ea typeface="+mn-lt"/>
                <a:cs typeface="+mn-lt"/>
              </a:rPr>
              <a:t>Java provides several ways to format strings:</a:t>
            </a:r>
          </a:p>
          <a:p>
            <a:endParaRPr lang="en-US" sz="2200" dirty="0"/>
          </a:p>
          <a:p>
            <a:pPr marL="457200" indent="-457200">
              <a:buAutoNum type="arabicParenR"/>
            </a:pPr>
            <a:r>
              <a:rPr lang="en-US" sz="2200" err="1">
                <a:ea typeface="+mn-lt"/>
                <a:cs typeface="+mn-lt"/>
              </a:rPr>
              <a:t>String.format</a:t>
            </a:r>
            <a:r>
              <a:rPr lang="en-US" sz="2200" dirty="0">
                <a:ea typeface="+mn-lt"/>
                <a:cs typeface="+mn-lt"/>
              </a:rPr>
              <a:t>()</a:t>
            </a:r>
          </a:p>
          <a:p>
            <a:pPr marL="457200" indent="-457200">
              <a:buAutoNum type="arabicParenR"/>
            </a:pPr>
            <a:r>
              <a:rPr lang="en-US" sz="2200" dirty="0" err="1">
                <a:ea typeface="+mn-lt"/>
                <a:cs typeface="+mn-lt"/>
              </a:rPr>
              <a:t>System.out.printf</a:t>
            </a:r>
            <a:r>
              <a:rPr lang="en-US" sz="2200" dirty="0">
                <a:ea typeface="+mn-lt"/>
                <a:cs typeface="+mn-lt"/>
              </a:rPr>
              <a:t>()</a:t>
            </a:r>
          </a:p>
          <a:p>
            <a:pPr marL="457200" indent="-457200">
              <a:buAutoNum type="arabicParenR"/>
            </a:pPr>
            <a:r>
              <a:rPr lang="en-US" sz="2200" dirty="0"/>
              <a:t>Format classes</a:t>
            </a:r>
          </a:p>
          <a:p>
            <a:pPr marL="457200" indent="-457200">
              <a:buAutoNum type="arabicParenR"/>
            </a:pPr>
            <a:r>
              <a:rPr lang="en-US" sz="2200" dirty="0"/>
              <a:t>Regular Expressions</a:t>
            </a:r>
          </a:p>
          <a:p>
            <a:pPr>
              <a:spcAft>
                <a:spcPts val="800"/>
              </a:spcAft>
            </a:pPr>
            <a:endParaRPr lang="en-US" dirty="0"/>
          </a:p>
        </p:txBody>
      </p:sp>
      <p:pic>
        <p:nvPicPr>
          <p:cNvPr id="2" name="Picture 1" descr="A group of people standing around a clock&#10;&#10;AI-generated content may be incorrect.">
            <a:extLst>
              <a:ext uri="{FF2B5EF4-FFF2-40B4-BE49-F238E27FC236}">
                <a16:creationId xmlns:a16="http://schemas.microsoft.com/office/drawing/2014/main" id="{048DD761-4035-63D1-5392-F628A2B8EB4A}"/>
              </a:ext>
            </a:extLst>
          </p:cNvPr>
          <p:cNvPicPr>
            <a:picLocks noChangeAspect="1"/>
          </p:cNvPicPr>
          <p:nvPr/>
        </p:nvPicPr>
        <p:blipFill>
          <a:blip r:embed="rId3"/>
          <a:stretch>
            <a:fillRect/>
          </a:stretch>
        </p:blipFill>
        <p:spPr>
          <a:xfrm>
            <a:off x="6964892" y="3649663"/>
            <a:ext cx="4612216" cy="2574925"/>
          </a:xfrm>
          <a:prstGeom prst="rect">
            <a:avLst/>
          </a:prstGeom>
        </p:spPr>
      </p:pic>
      <p:sp>
        <p:nvSpPr>
          <p:cNvPr id="5" name="Oval 4">
            <a:extLst>
              <a:ext uri="{FF2B5EF4-FFF2-40B4-BE49-F238E27FC236}">
                <a16:creationId xmlns:a16="http://schemas.microsoft.com/office/drawing/2014/main" id="{4DC4E56C-B03C-CB93-7C14-1964CB0B1F56}"/>
              </a:ext>
            </a:extLst>
          </p:cNvPr>
          <p:cNvSpPr>
            <a:spLocks noGrp="1" noRot="1" noChangeAspect="1" noMove="1" noResize="1" noEditPoints="1" noAdjustHandles="1" noChangeArrowheads="1" noChangeShapeType="1" noTextEdit="1"/>
          </p:cNvSpPr>
          <p:nvPr/>
        </p:nvSpPr>
        <p:spPr>
          <a:xfrm>
            <a:off x="1915959" y="218735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p:nvPr/>
        </p:nvSpPr>
        <p:spPr>
          <a:xfrm>
            <a:off x="631544" y="319179"/>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pPr marL="457200" indent="-457200">
              <a:buAutoNum type="arabicPeriod"/>
            </a:pPr>
            <a:r>
              <a:rPr lang="en-US" sz="2400" dirty="0"/>
              <a:t>Using </a:t>
            </a:r>
            <a:r>
              <a:rPr lang="en-US" sz="2400" dirty="0" err="1"/>
              <a:t>String.format</a:t>
            </a:r>
            <a:r>
              <a:rPr lang="en-US" sz="2400" dirty="0"/>
              <a:t>()</a:t>
            </a:r>
          </a:p>
        </p:txBody>
      </p:sp>
      <p:sp>
        <p:nvSpPr>
          <p:cNvPr id="9" name="Title 1"/>
          <p:cNvSpPr txBox="1"/>
          <p:nvPr/>
        </p:nvSpPr>
        <p:spPr>
          <a:xfrm>
            <a:off x="631544" y="3579344"/>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r>
              <a:rPr lang="en-US" sz="2400" dirty="0">
                <a:ea typeface="+mj-lt"/>
                <a:cs typeface="+mj-lt"/>
              </a:rPr>
              <a:t>2. Using </a:t>
            </a:r>
            <a:r>
              <a:rPr lang="en-US" sz="2400" dirty="0" err="1">
                <a:ea typeface="+mj-lt"/>
                <a:cs typeface="+mj-lt"/>
              </a:rPr>
              <a:t>System.out.printf</a:t>
            </a:r>
            <a:r>
              <a:rPr lang="en-US" sz="2400" dirty="0">
                <a:ea typeface="+mj-lt"/>
                <a:cs typeface="+mj-lt"/>
              </a:rPr>
              <a:t>()</a:t>
            </a:r>
            <a:endParaRPr lang="en-US" dirty="0"/>
          </a:p>
        </p:txBody>
      </p:sp>
      <p:pic>
        <p:nvPicPr>
          <p:cNvPr id="3" name="Picture 2" descr="A black screen with white text&#10;&#10;AI-generated content may be incorrect."/>
          <p:cNvPicPr>
            <a:picLocks noChangeAspect="1"/>
          </p:cNvPicPr>
          <p:nvPr/>
        </p:nvPicPr>
        <p:blipFill>
          <a:blip r:embed="rId3"/>
          <a:stretch>
            <a:fillRect/>
          </a:stretch>
        </p:blipFill>
        <p:spPr>
          <a:xfrm>
            <a:off x="1069975" y="900642"/>
            <a:ext cx="10687050" cy="2114550"/>
          </a:xfrm>
          <a:prstGeom prst="rect">
            <a:avLst/>
          </a:prstGeom>
        </p:spPr>
      </p:pic>
      <p:pic>
        <p:nvPicPr>
          <p:cNvPr id="4" name="Picture 3" descr="A screen shot of a computer&#10;&#10;AI-generated content may be incorrect."/>
          <p:cNvPicPr>
            <a:picLocks noChangeAspect="1"/>
          </p:cNvPicPr>
          <p:nvPr/>
        </p:nvPicPr>
        <p:blipFill>
          <a:blip r:embed="rId4"/>
          <a:stretch>
            <a:fillRect/>
          </a:stretch>
        </p:blipFill>
        <p:spPr>
          <a:xfrm>
            <a:off x="1063625" y="4235980"/>
            <a:ext cx="7905750" cy="16668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p:nvPr/>
        </p:nvSpPr>
        <p:spPr>
          <a:xfrm>
            <a:off x="568791" y="498474"/>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r>
              <a:rPr lang="en-US" sz="2400" dirty="0"/>
              <a:t>3. Format Classes - </a:t>
            </a:r>
            <a:r>
              <a:rPr lang="en-US" sz="2400" dirty="0" err="1">
                <a:ea typeface="+mj-lt"/>
                <a:cs typeface="+mj-lt"/>
              </a:rPr>
              <a:t>java.text.Format</a:t>
            </a:r>
            <a:endParaRPr lang="en-US" sz="2400" dirty="0" err="1"/>
          </a:p>
        </p:txBody>
      </p:sp>
      <p:sp>
        <p:nvSpPr>
          <p:cNvPr id="3" name="TextBox 2"/>
          <p:cNvSpPr txBox="1"/>
          <p:nvPr/>
        </p:nvSpPr>
        <p:spPr>
          <a:xfrm>
            <a:off x="572643" y="1165381"/>
            <a:ext cx="10542950" cy="2898388"/>
          </a:xfrm>
          <a:prstGeom prst="rect">
            <a:avLst/>
          </a:prstGeom>
        </p:spPr>
        <p:txBody>
          <a:bodyPr rot="0" spcFirstLastPara="0" vertOverflow="overflow" horzOverflow="overflow" vert="horz" wrap="square" lIns="0" tIns="0" rIns="0" bIns="0" numCol="1" spcCol="0" rtlCol="0" fromWordArt="0" anchor="t" anchorCtr="0" forceAA="0" compatLnSpc="1">
            <a:noAutofit/>
          </a:bodyPr>
          <a:lstStyle/>
          <a:p>
            <a:pPr>
              <a:spcAft>
                <a:spcPts val="800"/>
              </a:spcAft>
            </a:pPr>
            <a:r>
              <a:rPr lang="en-US" sz="2000" dirty="0">
                <a:ea typeface="+mn-lt"/>
                <a:cs typeface="+mn-lt"/>
              </a:rPr>
              <a:t>In Java, the Format class serves as an abstract base class for formatting locale-sensitive data, such as dates, numbers, and messages. It provides a foundation for converting objects into strings and parsing strings back into objects.  </a:t>
            </a:r>
          </a:p>
          <a:p>
            <a:pPr>
              <a:spcAft>
                <a:spcPts val="800"/>
              </a:spcAft>
            </a:pPr>
            <a:r>
              <a:rPr lang="en-US" sz="2000" dirty="0">
                <a:ea typeface="+mn-lt"/>
                <a:cs typeface="+mn-lt"/>
              </a:rPr>
              <a:t>Format is an abstract base class defines the basic API for formatting. Number format, Date Format are the two abstract sub classes and Message format is a concrete subclass that extends Format class.</a:t>
            </a:r>
          </a:p>
          <a:p>
            <a:pPr>
              <a:spcAft>
                <a:spcPts val="800"/>
              </a:spcAft>
            </a:pPr>
            <a:r>
              <a:rPr lang="en-US" sz="2000" dirty="0">
                <a:ea typeface="+mn-lt"/>
                <a:cs typeface="+mn-lt"/>
              </a:rPr>
              <a:t>When use Format classes?</a:t>
            </a:r>
          </a:p>
          <a:p>
            <a:pPr marL="457200" indent="-457200">
              <a:buAutoNum type="arabicParenR"/>
            </a:pPr>
            <a:r>
              <a:rPr lang="en-US" sz="2000" dirty="0">
                <a:ea typeface="+mn-lt"/>
                <a:cs typeface="+mn-lt"/>
              </a:rPr>
              <a:t>When formatting large text blocks (e.g., logs, CSV files).</a:t>
            </a:r>
            <a:endParaRPr lang="en-US" dirty="0"/>
          </a:p>
          <a:p>
            <a:pPr>
              <a:spcAft>
                <a:spcPts val="800"/>
              </a:spcAft>
            </a:pPr>
            <a:r>
              <a:rPr lang="en-US" sz="2000" dirty="0">
                <a:ea typeface="+mn-lt"/>
                <a:cs typeface="+mn-lt"/>
              </a:rPr>
              <a:t>2)    When you need to write formatted output directly to a file or stream.</a:t>
            </a:r>
            <a:endParaRPr lang="en-US" dirty="0"/>
          </a:p>
        </p:txBody>
      </p:sp>
      <p:pic>
        <p:nvPicPr>
          <p:cNvPr id="4" name="Picture 3" descr="A diagram of a document&#10;&#10;AI-generated content may be incorrect.">
            <a:extLst>
              <a:ext uri="{FF2B5EF4-FFF2-40B4-BE49-F238E27FC236}">
                <a16:creationId xmlns:a16="http://schemas.microsoft.com/office/drawing/2014/main" id="{FD3FDBE3-AAEB-37AD-E86A-38F9423C5B61}"/>
              </a:ext>
            </a:extLst>
          </p:cNvPr>
          <p:cNvPicPr>
            <a:picLocks noChangeAspect="1"/>
          </p:cNvPicPr>
          <p:nvPr/>
        </p:nvPicPr>
        <p:blipFill>
          <a:blip r:embed="rId3"/>
          <a:stretch>
            <a:fillRect/>
          </a:stretch>
        </p:blipFill>
        <p:spPr>
          <a:xfrm>
            <a:off x="3197679" y="4290332"/>
            <a:ext cx="5783036" cy="19648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Title 1"/>
          <p:cNvSpPr txBox="1"/>
          <p:nvPr/>
        </p:nvSpPr>
        <p:spPr>
          <a:xfrm>
            <a:off x="631544" y="364003"/>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pPr marL="457200" indent="-457200">
              <a:buAutoNum type="alphaLcPeriod"/>
            </a:pPr>
            <a:r>
              <a:rPr lang="en-US" sz="2400" dirty="0"/>
              <a:t>Using </a:t>
            </a:r>
            <a:r>
              <a:rPr lang="en-US" sz="2400"/>
              <a:t>DecimalFormat()</a:t>
            </a:r>
            <a:endParaRPr lang="en-US" dirty="0"/>
          </a:p>
        </p:txBody>
      </p:sp>
      <p:sp>
        <p:nvSpPr>
          <p:cNvPr id="30" name="Title 1"/>
          <p:cNvSpPr txBox="1"/>
          <p:nvPr/>
        </p:nvSpPr>
        <p:spPr>
          <a:xfrm>
            <a:off x="631544" y="3024767"/>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r>
              <a:rPr lang="en-US" sz="2400" dirty="0">
                <a:ea typeface="+mj-lt"/>
                <a:cs typeface="+mj-lt"/>
              </a:rPr>
              <a:t>b. Using </a:t>
            </a:r>
            <a:r>
              <a:rPr lang="en-US" sz="2400" dirty="0" err="1">
                <a:ea typeface="+mj-lt"/>
                <a:cs typeface="+mj-lt"/>
              </a:rPr>
              <a:t>MessageFormat</a:t>
            </a:r>
            <a:r>
              <a:rPr lang="en-US" sz="2400" dirty="0">
                <a:ea typeface="+mj-lt"/>
                <a:cs typeface="+mj-lt"/>
              </a:rPr>
              <a:t>()</a:t>
            </a:r>
            <a:endParaRPr lang="en-US" dirty="0"/>
          </a:p>
        </p:txBody>
      </p:sp>
      <p:pic>
        <p:nvPicPr>
          <p:cNvPr id="2" name="Picture 1"/>
          <p:cNvPicPr>
            <a:picLocks noChangeAspect="1"/>
          </p:cNvPicPr>
          <p:nvPr/>
        </p:nvPicPr>
        <p:blipFill>
          <a:blip r:embed="rId3"/>
          <a:stretch>
            <a:fillRect/>
          </a:stretch>
        </p:blipFill>
        <p:spPr>
          <a:xfrm>
            <a:off x="1052352" y="968321"/>
            <a:ext cx="7400925" cy="1485900"/>
          </a:xfrm>
          <a:prstGeom prst="rect">
            <a:avLst/>
          </a:prstGeom>
        </p:spPr>
      </p:pic>
      <p:pic>
        <p:nvPicPr>
          <p:cNvPr id="3" name="Picture 2" descr="A computer code on a black background&#10;&#10;AI-generated content may be incorrect."/>
          <p:cNvPicPr>
            <a:picLocks noChangeAspect="1"/>
          </p:cNvPicPr>
          <p:nvPr/>
        </p:nvPicPr>
        <p:blipFill>
          <a:blip r:embed="rId4"/>
          <a:stretch>
            <a:fillRect/>
          </a:stretch>
        </p:blipFill>
        <p:spPr>
          <a:xfrm>
            <a:off x="1048315" y="3672857"/>
            <a:ext cx="10353675" cy="19145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Title 1"/>
          <p:cNvSpPr txBox="1"/>
          <p:nvPr/>
        </p:nvSpPr>
        <p:spPr>
          <a:xfrm>
            <a:off x="631544" y="364003"/>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r>
              <a:rPr lang="en-US" sz="2400" dirty="0"/>
              <a:t>c. Using </a:t>
            </a:r>
            <a:r>
              <a:rPr lang="en-US" sz="2400" dirty="0" err="1"/>
              <a:t>SimpleDateFormat</a:t>
            </a:r>
            <a:r>
              <a:rPr lang="en-US" sz="2400" dirty="0"/>
              <a:t>()</a:t>
            </a:r>
            <a:endParaRPr lang="en-US" dirty="0"/>
          </a:p>
        </p:txBody>
      </p:sp>
      <p:sp>
        <p:nvSpPr>
          <p:cNvPr id="30" name="Title 1"/>
          <p:cNvSpPr txBox="1"/>
          <p:nvPr/>
        </p:nvSpPr>
        <p:spPr>
          <a:xfrm>
            <a:off x="635793" y="3423100"/>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r>
              <a:rPr lang="en-US" sz="2400" dirty="0">
                <a:ea typeface="+mj-lt"/>
                <a:cs typeface="+mj-lt"/>
              </a:rPr>
              <a:t>d. Using </a:t>
            </a:r>
            <a:r>
              <a:rPr lang="en-US" sz="2400" dirty="0" err="1">
                <a:ea typeface="+mj-lt"/>
                <a:cs typeface="+mj-lt"/>
              </a:rPr>
              <a:t>DateTimeFormat</a:t>
            </a:r>
            <a:r>
              <a:rPr lang="en-US" sz="2400" dirty="0">
                <a:ea typeface="+mj-lt"/>
                <a:cs typeface="+mj-lt"/>
              </a:rPr>
              <a:t>()</a:t>
            </a:r>
            <a:endParaRPr lang="en-US" sz="2400" dirty="0"/>
          </a:p>
        </p:txBody>
      </p:sp>
      <p:pic>
        <p:nvPicPr>
          <p:cNvPr id="4" name="Picture 3" descr="A screen shot of a computer program&#10;&#10;AI-generated content may be incorrect."/>
          <p:cNvPicPr>
            <a:picLocks noChangeAspect="1"/>
          </p:cNvPicPr>
          <p:nvPr/>
        </p:nvPicPr>
        <p:blipFill>
          <a:blip r:embed="rId3"/>
          <a:stretch>
            <a:fillRect/>
          </a:stretch>
        </p:blipFill>
        <p:spPr>
          <a:xfrm>
            <a:off x="1248340" y="4130460"/>
            <a:ext cx="8429625" cy="1619250"/>
          </a:xfrm>
          <a:prstGeom prst="rect">
            <a:avLst/>
          </a:prstGeom>
        </p:spPr>
      </p:pic>
      <p:pic>
        <p:nvPicPr>
          <p:cNvPr id="5" name="Picture 4" descr="A computer screen with white text&#10;&#10;AI-generated content may be incorrect."/>
          <p:cNvPicPr>
            <a:picLocks noChangeAspect="1"/>
          </p:cNvPicPr>
          <p:nvPr/>
        </p:nvPicPr>
        <p:blipFill>
          <a:blip r:embed="rId4"/>
          <a:stretch>
            <a:fillRect/>
          </a:stretch>
        </p:blipFill>
        <p:spPr>
          <a:xfrm>
            <a:off x="1242932" y="1079069"/>
            <a:ext cx="8362950" cy="160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p:nvPr/>
        </p:nvSpPr>
        <p:spPr>
          <a:xfrm>
            <a:off x="568791" y="498474"/>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r>
              <a:rPr lang="en-US" sz="2400" dirty="0"/>
              <a:t>4. Regular Expression and Pattern matching</a:t>
            </a:r>
          </a:p>
        </p:txBody>
      </p:sp>
      <p:pic>
        <p:nvPicPr>
          <p:cNvPr id="2" name="Picture 1" descr="A black background with text&#10;&#10;AI-generated content may be incorrect."/>
          <p:cNvPicPr>
            <a:picLocks noChangeAspect="1"/>
          </p:cNvPicPr>
          <p:nvPr/>
        </p:nvPicPr>
        <p:blipFill>
          <a:blip r:embed="rId3"/>
          <a:stretch>
            <a:fillRect/>
          </a:stretch>
        </p:blipFill>
        <p:spPr>
          <a:xfrm>
            <a:off x="1061167" y="1169073"/>
            <a:ext cx="5191287" cy="1094084"/>
          </a:xfrm>
          <a:prstGeom prst="rect">
            <a:avLst/>
          </a:prstGeom>
        </p:spPr>
      </p:pic>
      <p:pic>
        <p:nvPicPr>
          <p:cNvPr id="4" name="Picture 3" descr="A black background with white text&#10;&#10;AI-generated content may be incorrect."/>
          <p:cNvPicPr>
            <a:picLocks noChangeAspect="1"/>
          </p:cNvPicPr>
          <p:nvPr/>
        </p:nvPicPr>
        <p:blipFill>
          <a:blip r:embed="rId4"/>
          <a:stretch>
            <a:fillRect/>
          </a:stretch>
        </p:blipFill>
        <p:spPr>
          <a:xfrm>
            <a:off x="1063975" y="2520330"/>
            <a:ext cx="6938559" cy="900355"/>
          </a:xfrm>
          <a:prstGeom prst="rect">
            <a:avLst/>
          </a:prstGeom>
        </p:spPr>
      </p:pic>
      <p:pic>
        <p:nvPicPr>
          <p:cNvPr id="6" name="Picture 5" descr="A computer screen shot of a program code&#10;&#10;AI-generated content may be incorrect."/>
          <p:cNvPicPr>
            <a:picLocks noChangeAspect="1"/>
          </p:cNvPicPr>
          <p:nvPr/>
        </p:nvPicPr>
        <p:blipFill>
          <a:blip r:embed="rId5"/>
          <a:stretch>
            <a:fillRect/>
          </a:stretch>
        </p:blipFill>
        <p:spPr>
          <a:xfrm>
            <a:off x="1055176" y="3721611"/>
            <a:ext cx="6052089" cy="26823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Group 12"/>
          <p:cNvGrpSpPr>
            <a:grpSpLocks noGrp="1" noUngrp="1" noRot="1" noChangeAspect="1" noMove="1" noResize="1"/>
          </p:cNvGrpSpPr>
          <p:nvPr/>
        </p:nvGrpSpPr>
        <p:grpSpPr>
          <a:xfrm>
            <a:off x="613998" y="5334748"/>
            <a:ext cx="678135" cy="990000"/>
            <a:chOff x="10490969" y="1448827"/>
            <a:chExt cx="678135" cy="990000"/>
          </a:xfrm>
        </p:grpSpPr>
        <p:sp>
          <p:nvSpPr>
            <p:cNvPr id="14" name="Freeform: Shape 13"/>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Oval 14"/>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6" name="Oval 15"/>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7" name="Freeform: Shape 16"/>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useBgFill="1">
        <p:nvSpPr>
          <p:cNvPr id="19" name="Rectangle 1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ctrTitle"/>
          </p:nvPr>
        </p:nvSpPr>
        <p:spPr>
          <a:xfrm>
            <a:off x="579820" y="1616501"/>
            <a:ext cx="6385994" cy="1142556"/>
          </a:xfrm>
        </p:spPr>
        <p:txBody>
          <a:bodyPr vert="horz" wrap="square" lIns="0" tIns="0" rIns="0" bIns="0" rtlCol="0" anchor="t" anchorCtr="0">
            <a:normAutofit/>
          </a:bodyPr>
          <a:lstStyle/>
          <a:p>
            <a:pPr>
              <a:lnSpc>
                <a:spcPct val="100000"/>
              </a:lnSpc>
            </a:pPr>
            <a:r>
              <a:rPr lang="en-US" sz="4800"/>
              <a:t>Streams I/O</a:t>
            </a:r>
          </a:p>
        </p:txBody>
      </p:sp>
      <p:sp>
        <p:nvSpPr>
          <p:cNvPr id="21" name="Oval 20"/>
          <p:cNvSpPr>
            <a:spLocks noGrp="1" noRot="1" noChangeAspect="1" noMove="1" noResize="1" noEditPoints="1" noAdjustHandles="1" noChangeArrowheads="1" noChangeShapeType="1" noTextEdit="1"/>
          </p:cNvSpPr>
          <p:nvPr/>
        </p:nvSpPr>
        <p:spPr>
          <a:xfrm>
            <a:off x="1915959" y="218735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3" name="Freeform: Shape 22"/>
          <p:cNvSpPr>
            <a:spLocks noGrp="1" noRot="1" noChangeAspect="1" noMove="1" noResize="1" noEditPoints="1" noAdjustHandles="1" noChangeArrowheads="1" noChangeShapeType="1" noTextEdit="1"/>
          </p:cNvSpPr>
          <p:nvPr/>
        </p:nvSpPr>
        <p:spPr>
          <a:xfrm rot="13500000">
            <a:off x="373008" y="4919835"/>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96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Freeform: Shape 24"/>
          <p:cNvSpPr>
            <a:spLocks noGrp="1" noRot="1" noChangeAspect="1" noMove="1" noResize="1" noEditPoints="1" noAdjustHandles="1" noChangeArrowheads="1" noChangeShapeType="1" noTextEdit="1"/>
          </p:cNvSpPr>
          <p:nvPr/>
        </p:nvSpPr>
        <p:spPr>
          <a:xfrm rot="13500000">
            <a:off x="476583" y="4760475"/>
            <a:ext cx="1853969" cy="1042921"/>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75000"/>
              <a:lumOff val="25000"/>
              <a:alpha val="6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Oval 26"/>
          <p:cNvSpPr>
            <a:spLocks noGrp="1" noRot="1" noChangeAspect="1" noMove="1" noResize="1" noEditPoints="1" noAdjustHandles="1" noChangeArrowheads="1" noChangeShapeType="1" noTextEdit="1"/>
          </p:cNvSpPr>
          <p:nvPr/>
        </p:nvSpPr>
        <p:spPr>
          <a:xfrm rot="18900000">
            <a:off x="1085139" y="4330312"/>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9" name="Oval 28"/>
          <p:cNvSpPr>
            <a:spLocks noGrp="1" noRot="1" noChangeAspect="1" noMove="1" noResize="1" noEditPoints="1" noAdjustHandles="1" noChangeArrowheads="1" noChangeShapeType="1" noTextEdit="1"/>
          </p:cNvSpPr>
          <p:nvPr/>
        </p:nvSpPr>
        <p:spPr>
          <a:xfrm rot="18900000">
            <a:off x="2066166" y="5311337"/>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8" name="TextBox 7"/>
          <p:cNvSpPr txBox="1"/>
          <p:nvPr/>
        </p:nvSpPr>
        <p:spPr>
          <a:xfrm>
            <a:off x="585324" y="2742062"/>
            <a:ext cx="5965577" cy="2254836"/>
          </a:xfrm>
          <a:prstGeom prst="rect">
            <a:avLst/>
          </a:prstGeom>
        </p:spPr>
        <p:txBody>
          <a:bodyPr rot="0" spcFirstLastPara="0" vertOverflow="overflow" horzOverflow="overflow" vert="horz" wrap="square" lIns="0" tIns="0" rIns="0" bIns="0" numCol="1" spcCol="0" rtlCol="0" fromWordArt="0" anchor="t" anchorCtr="0" forceAA="0" compatLnSpc="1">
            <a:noAutofit/>
          </a:bodyPr>
          <a:lstStyle/>
          <a:p>
            <a:r>
              <a:rPr lang="en-US" sz="2200" dirty="0">
                <a:ea typeface="+mn-lt"/>
                <a:cs typeface="+mn-lt"/>
              </a:rPr>
              <a:t>Java I/O streams facilitate reading and writing data to various sources and destinations, such as files, network connections, and memory. </a:t>
            </a:r>
            <a:endParaRPr lang="en-US" dirty="0">
              <a:ea typeface="+mn-lt"/>
              <a:cs typeface="+mn-lt"/>
            </a:endParaRPr>
          </a:p>
          <a:p>
            <a:r>
              <a:rPr lang="en-US" sz="2200" dirty="0">
                <a:ea typeface="+mn-lt"/>
                <a:cs typeface="+mn-lt"/>
              </a:rPr>
              <a:t>They are categorized into byte streams (for binary data) and character streams (for text data).</a:t>
            </a:r>
            <a:endParaRPr lang="en-US"/>
          </a:p>
          <a:p>
            <a:pPr>
              <a:spcAft>
                <a:spcPts val="800"/>
              </a:spcAft>
            </a:pPr>
            <a:endParaRPr lang="en-US" dirty="0"/>
          </a:p>
        </p:txBody>
      </p:sp>
      <p:pic>
        <p:nvPicPr>
          <p:cNvPr id="2" name="Picture 1" descr="Stream Classes in Java | Byte Stream Classes - Scientech Easy"/>
          <p:cNvPicPr>
            <a:picLocks noChangeAspect="1"/>
          </p:cNvPicPr>
          <p:nvPr/>
        </p:nvPicPr>
        <p:blipFill>
          <a:blip r:embed="rId3"/>
          <a:stretch>
            <a:fillRect/>
          </a:stretch>
        </p:blipFill>
        <p:spPr>
          <a:xfrm>
            <a:off x="6790779" y="1616056"/>
            <a:ext cx="4961879" cy="33624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p:cNvSpPr txBox="1"/>
          <p:nvPr/>
        </p:nvSpPr>
        <p:spPr>
          <a:xfrm>
            <a:off x="1115416" y="1686193"/>
            <a:ext cx="10518760" cy="4760337"/>
          </a:xfrm>
          <a:prstGeom prst="rect">
            <a:avLst/>
          </a:prstGeom>
        </p:spPr>
        <p:txBody>
          <a:bodyPr rot="0" spcFirstLastPara="0" vertOverflow="overflow" horzOverflow="overflow" vert="horz" wrap="square" lIns="0" tIns="0" rIns="0" bIns="0" numCol="1" spcCol="0" rtlCol="0" fromWordArt="0" anchor="t" anchorCtr="0" forceAA="0" compatLnSpc="1">
            <a:noAutofit/>
          </a:bodyPr>
          <a:lstStyle/>
          <a:p>
            <a:r>
              <a:rPr lang="en-US" sz="2800" dirty="0">
                <a:latin typeface="Walbaum Display"/>
                <a:ea typeface="+mn-lt"/>
                <a:cs typeface="+mn-lt"/>
              </a:rPr>
              <a:t>A. Byte Streams </a:t>
            </a:r>
            <a:endParaRPr lang="en-US" sz="2400">
              <a:latin typeface="Walbaum Display"/>
              <a:ea typeface="+mn-lt"/>
              <a:cs typeface="+mn-lt"/>
            </a:endParaRPr>
          </a:p>
          <a:p>
            <a:r>
              <a:rPr lang="en-US" sz="2400" dirty="0"/>
              <a:t> Operate on individual bytes.  Works on all files.</a:t>
            </a:r>
            <a:endParaRPr lang="en-US" sz="2400"/>
          </a:p>
          <a:p>
            <a:pPr marL="342900" indent="-342900">
              <a:buFont typeface="Arial" panose="020B0604020202020204"/>
              <a:buChar char="•"/>
            </a:pPr>
            <a:r>
              <a:rPr lang="en-US" sz="2000" dirty="0" err="1"/>
              <a:t>FileInputStream</a:t>
            </a:r>
            <a:r>
              <a:rPr lang="en-US" sz="2000" dirty="0"/>
              <a:t> / </a:t>
            </a:r>
            <a:r>
              <a:rPr lang="en-US" sz="2000" dirty="0" err="1"/>
              <a:t>FileOutputStream</a:t>
            </a:r>
            <a:r>
              <a:rPr lang="en-US" sz="2000" dirty="0"/>
              <a:t>: Read/write bytes from/to files.</a:t>
            </a:r>
            <a:endParaRPr lang="en-US" dirty="0"/>
          </a:p>
          <a:p>
            <a:pPr marL="342900" indent="-342900">
              <a:buFont typeface="Arial" panose="020B0604020202020204"/>
              <a:buChar char="•"/>
            </a:pPr>
            <a:r>
              <a:rPr lang="en-US" sz="2000" dirty="0" err="1"/>
              <a:t>BufferedInputStream</a:t>
            </a:r>
            <a:r>
              <a:rPr lang="en-US" sz="2000" dirty="0"/>
              <a:t> / </a:t>
            </a:r>
            <a:r>
              <a:rPr lang="en-US" sz="2000" dirty="0" err="1"/>
              <a:t>BufferedOutputStream</a:t>
            </a:r>
            <a:r>
              <a:rPr lang="en-US" sz="2000" dirty="0"/>
              <a:t>: Add buffering for efficiency.</a:t>
            </a:r>
            <a:endParaRPr lang="en-US" dirty="0"/>
          </a:p>
          <a:p>
            <a:pPr marL="342900" indent="-342900">
              <a:buFont typeface="Arial" panose="020B0604020202020204"/>
              <a:buChar char="•"/>
            </a:pPr>
            <a:r>
              <a:rPr lang="en-US" sz="2000" dirty="0" err="1"/>
              <a:t>DataInputStream</a:t>
            </a:r>
            <a:r>
              <a:rPr lang="en-US" sz="2000" dirty="0"/>
              <a:t> / </a:t>
            </a:r>
            <a:r>
              <a:rPr lang="en-US" sz="2000" dirty="0" err="1"/>
              <a:t>DataOutputStream</a:t>
            </a:r>
            <a:r>
              <a:rPr lang="en-US" sz="2000" dirty="0"/>
              <a:t>: Read/write primitive data types.</a:t>
            </a:r>
            <a:endParaRPr lang="en-US" dirty="0"/>
          </a:p>
          <a:p>
            <a:pPr marL="342900" indent="-342900">
              <a:buFont typeface="Arial" panose="020B0604020202020204"/>
              <a:buChar char="•"/>
            </a:pPr>
            <a:endParaRPr lang="en-US" sz="2000" dirty="0">
              <a:ea typeface="+mn-lt"/>
              <a:cs typeface="+mn-lt"/>
            </a:endParaRPr>
          </a:p>
          <a:p>
            <a:pPr marL="342900" indent="-342900">
              <a:buFont typeface="Arial" panose="020B0604020202020204"/>
              <a:buChar char="•"/>
            </a:pPr>
            <a:endParaRPr lang="en-US" sz="2000" dirty="0">
              <a:ea typeface="+mn-lt"/>
              <a:cs typeface="+mn-lt"/>
            </a:endParaRPr>
          </a:p>
          <a:p>
            <a:r>
              <a:rPr lang="en-US" sz="2800" dirty="0">
                <a:latin typeface="Walbaum Display"/>
                <a:ea typeface="+mn-lt"/>
                <a:cs typeface="+mn-lt"/>
              </a:rPr>
              <a:t>B.  Character Streams </a:t>
            </a:r>
            <a:endParaRPr lang="en-US" sz="2800">
              <a:latin typeface="Walbaum Display"/>
              <a:ea typeface="+mn-lt"/>
              <a:cs typeface="+mn-lt"/>
            </a:endParaRPr>
          </a:p>
          <a:p>
            <a:r>
              <a:rPr lang="en-US" sz="2400" dirty="0">
                <a:ea typeface="+mn-lt"/>
                <a:cs typeface="+mn-lt"/>
              </a:rPr>
              <a:t> Handle character data, automatically handling character set translation.  Works on .txt .csv .</a:t>
            </a:r>
            <a:r>
              <a:rPr lang="en-US" sz="2400" dirty="0" err="1">
                <a:ea typeface="+mn-lt"/>
                <a:cs typeface="+mn-lt"/>
              </a:rPr>
              <a:t>json</a:t>
            </a:r>
            <a:r>
              <a:rPr lang="en-US" sz="2400" dirty="0">
                <a:ea typeface="+mn-lt"/>
                <a:cs typeface="+mn-lt"/>
              </a:rPr>
              <a:t> files only.</a:t>
            </a:r>
            <a:endParaRPr lang="en-US" dirty="0"/>
          </a:p>
          <a:p>
            <a:pPr marL="342900" indent="-342900">
              <a:buFont typeface="Arial" panose="020B0604020202020204"/>
              <a:buChar char="•"/>
            </a:pPr>
            <a:r>
              <a:rPr lang="en-US" sz="2000" dirty="0" err="1">
                <a:ea typeface="+mn-lt"/>
                <a:cs typeface="+mn-lt"/>
              </a:rPr>
              <a:t>FileReader</a:t>
            </a:r>
            <a:r>
              <a:rPr lang="en-US" sz="2000" dirty="0">
                <a:ea typeface="+mn-lt"/>
                <a:cs typeface="+mn-lt"/>
              </a:rPr>
              <a:t> / </a:t>
            </a:r>
            <a:r>
              <a:rPr lang="en-US" sz="2000" dirty="0" err="1">
                <a:ea typeface="+mn-lt"/>
                <a:cs typeface="+mn-lt"/>
              </a:rPr>
              <a:t>FileWriter</a:t>
            </a:r>
            <a:r>
              <a:rPr lang="en-US" sz="2000" dirty="0">
                <a:ea typeface="+mn-lt"/>
                <a:cs typeface="+mn-lt"/>
              </a:rPr>
              <a:t>: Read/write characters from/to files.</a:t>
            </a:r>
            <a:endParaRPr lang="en-US" dirty="0"/>
          </a:p>
          <a:p>
            <a:pPr marL="342900" indent="-342900">
              <a:buFont typeface="Arial" panose="020B0604020202020204"/>
              <a:buChar char="•"/>
            </a:pPr>
            <a:r>
              <a:rPr lang="en-US" sz="2000" dirty="0" err="1">
                <a:ea typeface="+mn-lt"/>
                <a:cs typeface="+mn-lt"/>
              </a:rPr>
              <a:t>BufferedReader</a:t>
            </a:r>
            <a:r>
              <a:rPr lang="en-US" sz="2000" dirty="0">
                <a:ea typeface="+mn-lt"/>
                <a:cs typeface="+mn-lt"/>
              </a:rPr>
              <a:t> / </a:t>
            </a:r>
            <a:r>
              <a:rPr lang="en-US" sz="2000" dirty="0" err="1">
                <a:ea typeface="+mn-lt"/>
                <a:cs typeface="+mn-lt"/>
              </a:rPr>
              <a:t>BufferedWriter</a:t>
            </a:r>
            <a:r>
              <a:rPr lang="en-US" sz="2000" dirty="0">
                <a:ea typeface="+mn-lt"/>
                <a:cs typeface="+mn-lt"/>
              </a:rPr>
              <a:t>: Add buffering for efficiency.</a:t>
            </a:r>
            <a:endParaRPr lang="en-US" dirty="0">
              <a:ea typeface="+mn-lt"/>
              <a:cs typeface="+mn-lt"/>
            </a:endParaRPr>
          </a:p>
          <a:p>
            <a:pPr marL="342900" indent="-342900">
              <a:spcAft>
                <a:spcPts val="800"/>
              </a:spcAft>
              <a:buFont typeface="Arial" panose="020B0604020202020204"/>
              <a:buChar char="•"/>
            </a:pPr>
            <a:r>
              <a:rPr lang="en-US" sz="2000" dirty="0" err="1">
                <a:ea typeface="+mn-lt"/>
                <a:cs typeface="+mn-lt"/>
              </a:rPr>
              <a:t>PrintWriter</a:t>
            </a:r>
            <a:r>
              <a:rPr lang="en-US" sz="2000" dirty="0">
                <a:ea typeface="+mn-lt"/>
                <a:cs typeface="+mn-lt"/>
              </a:rPr>
              <a:t>: Print formatted data as text.</a:t>
            </a:r>
            <a:endParaRPr lang="en-US" dirty="0">
              <a:ea typeface="+mn-lt"/>
              <a:cs typeface="+mn-lt"/>
            </a:endParaRPr>
          </a:p>
        </p:txBody>
      </p:sp>
      <p:sp>
        <p:nvSpPr>
          <p:cNvPr id="8" name="Title 1"/>
          <p:cNvSpPr txBox="1"/>
          <p:nvPr/>
        </p:nvSpPr>
        <p:spPr>
          <a:xfrm>
            <a:off x="960374" y="837141"/>
            <a:ext cx="7942492" cy="401348"/>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r>
              <a:rPr lang="en-US" sz="3600" dirty="0"/>
              <a:t>Streams I/O Types: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550863" y="508635"/>
            <a:ext cx="11090274" cy="813417"/>
          </a:xfrm>
        </p:spPr>
        <p:txBody>
          <a:bodyPr/>
          <a:lstStyle/>
          <a:p>
            <a:pPr>
              <a:spcBef>
                <a:spcPts val="0"/>
              </a:spcBef>
            </a:pPr>
            <a:r>
              <a:rPr lang="en-US" dirty="0"/>
              <a:t>Byte I/O Stream </a:t>
            </a:r>
            <a:endParaRPr lang="en-US"/>
          </a:p>
        </p:txBody>
      </p:sp>
      <p:sp>
        <p:nvSpPr>
          <p:cNvPr id="6" name="Content Placeholder 5"/>
          <p:cNvSpPr>
            <a:spLocks noGrp="1"/>
          </p:cNvSpPr>
          <p:nvPr>
            <p:ph sz="half" idx="1"/>
          </p:nvPr>
        </p:nvSpPr>
        <p:spPr>
          <a:xfrm>
            <a:off x="550862" y="1843175"/>
            <a:ext cx="5509683" cy="4249650"/>
          </a:xfrm>
        </p:spPr>
        <p:txBody>
          <a:bodyPr vert="horz" wrap="square" lIns="0" tIns="0" rIns="0" bIns="0" rtlCol="0" anchor="t">
            <a:normAutofit/>
          </a:bodyPr>
          <a:lstStyle/>
          <a:p>
            <a:r>
              <a:rPr lang="en-US" sz="2800" err="1">
                <a:latin typeface="Gill Sans MT" panose="020B0502020104020203"/>
                <a:ea typeface="Calibri" panose="020F0502020204030204"/>
                <a:cs typeface="Calibri" panose="020F0502020204030204"/>
              </a:rPr>
              <a:t>FileInputStream</a:t>
            </a:r>
            <a:r>
              <a:rPr lang="en-US" sz="2800" dirty="0">
                <a:latin typeface="Gill Sans MT" panose="020B0502020104020203"/>
                <a:ea typeface="Calibri" panose="020F0502020204030204"/>
                <a:cs typeface="Calibri" panose="020F0502020204030204"/>
              </a:rPr>
              <a:t> Operations:</a:t>
            </a:r>
            <a:endParaRPr lang="en-US">
              <a:latin typeface="Gill Sans MT" panose="020B0502020104020203"/>
              <a:ea typeface="Calibri" panose="020F0502020204030204"/>
              <a:cs typeface="Calibri" panose="020F0502020204030204"/>
            </a:endParaRPr>
          </a:p>
          <a:p>
            <a:pPr marL="342900" indent="-342900">
              <a:buChar char="•"/>
            </a:pPr>
            <a:r>
              <a:rPr lang="en-US" sz="2000" dirty="0">
                <a:latin typeface="Gill Sans MT" panose="020B0502020104020203"/>
                <a:ea typeface="Calibri" panose="020F0502020204030204"/>
                <a:cs typeface="Calibri" panose="020F0502020204030204"/>
              </a:rPr>
              <a:t>read()</a:t>
            </a:r>
          </a:p>
          <a:p>
            <a:pPr marL="342900" indent="-342900">
              <a:buChar char="•"/>
            </a:pPr>
            <a:r>
              <a:rPr lang="en-US" sz="2000">
                <a:latin typeface="Gill Sans MT" panose="020B0502020104020203"/>
                <a:ea typeface="Calibri" panose="020F0502020204030204"/>
                <a:cs typeface="Calibri" panose="020F0502020204030204"/>
              </a:rPr>
              <a:t>read(byte[] b)</a:t>
            </a:r>
          </a:p>
          <a:p>
            <a:pPr marL="342900" indent="-342900">
              <a:buChar char="•"/>
            </a:pPr>
            <a:r>
              <a:rPr lang="en-US" sz="2000" dirty="0">
                <a:latin typeface="Gill Sans MT" panose="020B0502020104020203"/>
                <a:ea typeface="Calibri" panose="020F0502020204030204"/>
                <a:cs typeface="Calibri" panose="020F0502020204030204"/>
              </a:rPr>
              <a:t>skip()</a:t>
            </a:r>
          </a:p>
          <a:p>
            <a:pPr marL="342900" indent="-342900">
              <a:buChar char="•"/>
            </a:pPr>
            <a:r>
              <a:rPr lang="en-US" sz="2000" dirty="0">
                <a:latin typeface="Gill Sans MT" panose="020B0502020104020203"/>
                <a:ea typeface="Calibri" panose="020F0502020204030204"/>
                <a:cs typeface="Calibri" panose="020F0502020204030204"/>
              </a:rPr>
              <a:t>available()</a:t>
            </a:r>
          </a:p>
          <a:p>
            <a:pPr marL="342900" indent="-342900">
              <a:buChar char="•"/>
            </a:pPr>
            <a:r>
              <a:rPr lang="en-US" sz="2000" dirty="0">
                <a:latin typeface="Gill Sans MT" panose="020B0502020104020203"/>
                <a:ea typeface="Calibri" panose="020F0502020204030204"/>
                <a:cs typeface="Calibri" panose="020F0502020204030204"/>
              </a:rPr>
              <a:t>close()</a:t>
            </a:r>
          </a:p>
        </p:txBody>
      </p:sp>
      <p:sp>
        <p:nvSpPr>
          <p:cNvPr id="7" name="Content Placeholder 6"/>
          <p:cNvSpPr>
            <a:spLocks noGrp="1"/>
          </p:cNvSpPr>
          <p:nvPr>
            <p:ph sz="half" idx="13"/>
          </p:nvPr>
        </p:nvSpPr>
        <p:spPr>
          <a:xfrm>
            <a:off x="6205540" y="1843175"/>
            <a:ext cx="5435600" cy="4249650"/>
          </a:xfrm>
        </p:spPr>
        <p:txBody>
          <a:bodyPr vert="horz" wrap="square" lIns="0" tIns="0" rIns="0" bIns="0" rtlCol="0" anchor="t">
            <a:normAutofit/>
          </a:bodyPr>
          <a:lstStyle/>
          <a:p>
            <a:r>
              <a:rPr lang="en-US" sz="2800" dirty="0" err="1"/>
              <a:t>FileOutputStream</a:t>
            </a:r>
            <a:r>
              <a:rPr lang="en-US" sz="2800" dirty="0"/>
              <a:t> Operations:</a:t>
            </a:r>
          </a:p>
          <a:p>
            <a:pPr marL="342900" indent="-342900">
              <a:buFont typeface="Arial,Sans-Serif"/>
              <a:buChar char="•"/>
            </a:pPr>
            <a:r>
              <a:rPr lang="en-US" sz="2000" dirty="0"/>
              <a:t>write()</a:t>
            </a:r>
          </a:p>
          <a:p>
            <a:pPr marL="342900" indent="-342900">
              <a:buFont typeface="Arial,Sans-Serif"/>
              <a:buChar char="•"/>
            </a:pPr>
            <a:r>
              <a:rPr lang="en-US" sz="2000" dirty="0"/>
              <a:t>flush()</a:t>
            </a:r>
          </a:p>
          <a:p>
            <a:pPr marL="342900" indent="-342900">
              <a:buFont typeface="Arial,Sans-Serif"/>
              <a:buChar char="•"/>
            </a:pPr>
            <a:r>
              <a:rPr lang="en-US" sz="2000" dirty="0"/>
              <a:t>close()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Title 2"/>
          <p:cNvSpPr>
            <a:spLocks noGrp="1"/>
          </p:cNvSpPr>
          <p:nvPr>
            <p:ph type="title"/>
          </p:nvPr>
        </p:nvSpPr>
        <p:spPr>
          <a:xfrm>
            <a:off x="550863" y="508635"/>
            <a:ext cx="11090274" cy="813417"/>
          </a:xfrm>
        </p:spPr>
        <p:txBody>
          <a:bodyPr/>
          <a:lstStyle/>
          <a:p>
            <a:pPr>
              <a:spcBef>
                <a:spcPts val="0"/>
              </a:spcBef>
            </a:pPr>
            <a:r>
              <a:rPr lang="en-US" dirty="0"/>
              <a:t>Character I/O Stream </a:t>
            </a:r>
          </a:p>
        </p:txBody>
      </p:sp>
      <p:sp>
        <p:nvSpPr>
          <p:cNvPr id="26" name="Content Placeholder 5"/>
          <p:cNvSpPr>
            <a:spLocks noGrp="1"/>
          </p:cNvSpPr>
          <p:nvPr>
            <p:ph sz="half" idx="1"/>
          </p:nvPr>
        </p:nvSpPr>
        <p:spPr>
          <a:xfrm>
            <a:off x="550862" y="1843175"/>
            <a:ext cx="5509683" cy="4249650"/>
          </a:xfrm>
        </p:spPr>
        <p:txBody>
          <a:bodyPr vert="horz" wrap="square" lIns="0" tIns="0" rIns="0" bIns="0" rtlCol="0" anchor="t">
            <a:normAutofit/>
          </a:bodyPr>
          <a:lstStyle/>
          <a:p>
            <a:r>
              <a:rPr lang="en-US" sz="2800" dirty="0" err="1"/>
              <a:t>FileReader</a:t>
            </a:r>
            <a:r>
              <a:rPr lang="en-US" sz="2800" dirty="0"/>
              <a:t> Operations:</a:t>
            </a:r>
            <a:endParaRPr lang="en-US" dirty="0"/>
          </a:p>
          <a:p>
            <a:pPr marL="342900" indent="-342900">
              <a:buChar char="•"/>
            </a:pPr>
            <a:r>
              <a:rPr lang="en-US" sz="2000" dirty="0"/>
              <a:t>read()</a:t>
            </a:r>
          </a:p>
          <a:p>
            <a:pPr marL="342900" indent="-342900">
              <a:buChar char="•"/>
            </a:pPr>
            <a:r>
              <a:rPr lang="en-US" sz="2000" dirty="0"/>
              <a:t>skip()</a:t>
            </a:r>
          </a:p>
          <a:p>
            <a:pPr marL="342900" indent="-342900">
              <a:buChar char="•"/>
            </a:pPr>
            <a:r>
              <a:rPr lang="en-US" sz="2000" dirty="0"/>
              <a:t>close()</a:t>
            </a:r>
          </a:p>
          <a:p>
            <a:r>
              <a:rPr lang="en-US" sz="2000" dirty="0">
                <a:ea typeface="+mn-lt"/>
                <a:cs typeface="+mn-lt"/>
              </a:rPr>
              <a:t>The </a:t>
            </a:r>
            <a:r>
              <a:rPr lang="en-US" sz="2000" dirty="0" err="1">
                <a:ea typeface="+mn-lt"/>
                <a:cs typeface="+mn-lt"/>
              </a:rPr>
              <a:t>FileReader</a:t>
            </a:r>
            <a:r>
              <a:rPr lang="en-US" sz="2000" dirty="0">
                <a:ea typeface="+mn-lt"/>
                <a:cs typeface="+mn-lt"/>
              </a:rPr>
              <a:t> in Java lacks an available() method because it reads character data, and the concept of "available" is more relevant to byte streams.</a:t>
            </a:r>
          </a:p>
        </p:txBody>
      </p:sp>
      <p:sp>
        <p:nvSpPr>
          <p:cNvPr id="28" name="Content Placeholder 6"/>
          <p:cNvSpPr>
            <a:spLocks noGrp="1"/>
          </p:cNvSpPr>
          <p:nvPr>
            <p:ph sz="half" idx="13"/>
          </p:nvPr>
        </p:nvSpPr>
        <p:spPr>
          <a:xfrm>
            <a:off x="6205540" y="1843175"/>
            <a:ext cx="5435600" cy="4249650"/>
          </a:xfrm>
        </p:spPr>
        <p:txBody>
          <a:bodyPr vert="horz" wrap="square" lIns="0" tIns="0" rIns="0" bIns="0" rtlCol="0" anchor="t">
            <a:normAutofit/>
          </a:bodyPr>
          <a:lstStyle/>
          <a:p>
            <a:r>
              <a:rPr lang="en-US" sz="2800" dirty="0" err="1"/>
              <a:t>FileWriter</a:t>
            </a:r>
            <a:r>
              <a:rPr lang="en-US" sz="2800" dirty="0"/>
              <a:t> Operations:</a:t>
            </a:r>
          </a:p>
          <a:p>
            <a:pPr marL="342900" indent="-342900">
              <a:buFont typeface="Arial,Sans-Serif"/>
              <a:buChar char="•"/>
            </a:pPr>
            <a:r>
              <a:rPr lang="en-US" sz="2000" dirty="0"/>
              <a:t>write()</a:t>
            </a:r>
          </a:p>
          <a:p>
            <a:pPr marL="342900" indent="-342900">
              <a:buFont typeface="Arial,Sans-Serif"/>
              <a:buChar char="•"/>
            </a:pPr>
            <a:r>
              <a:rPr lang="en-US" sz="2000" dirty="0"/>
              <a:t>flush()</a:t>
            </a:r>
          </a:p>
          <a:p>
            <a:pPr marL="342900" indent="-342900">
              <a:buFont typeface="Arial,Sans-Serif"/>
              <a:buChar char="•"/>
            </a:pPr>
            <a:r>
              <a:rPr lang="en-US" sz="2000" dirty="0"/>
              <a:t>close()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8791" y="498474"/>
            <a:ext cx="7942492" cy="930265"/>
          </a:xfrm>
        </p:spPr>
        <p:txBody>
          <a:bodyPr/>
          <a:lstStyle/>
          <a:p>
            <a:r>
              <a:rPr lang="en-US"/>
              <a:t>InputStreamReader</a:t>
            </a:r>
            <a:endParaRPr lang="en-US" dirty="0"/>
          </a:p>
        </p:txBody>
      </p:sp>
      <p:sp>
        <p:nvSpPr>
          <p:cNvPr id="3" name="Content Placeholder 2"/>
          <p:cNvSpPr>
            <a:spLocks noGrp="1"/>
          </p:cNvSpPr>
          <p:nvPr>
            <p:ph idx="1"/>
          </p:nvPr>
        </p:nvSpPr>
        <p:spPr>
          <a:xfrm>
            <a:off x="581900" y="1427934"/>
            <a:ext cx="8151633" cy="1955981"/>
          </a:xfrm>
        </p:spPr>
        <p:txBody>
          <a:bodyPr vert="horz" wrap="square" lIns="0" tIns="0" rIns="0" bIns="0" rtlCol="0" anchor="t">
            <a:normAutofit/>
          </a:bodyPr>
          <a:lstStyle/>
          <a:p>
            <a:r>
              <a:rPr lang="en-US" dirty="0" err="1">
                <a:solidFill>
                  <a:srgbClr val="FFFFFF"/>
                </a:solidFill>
                <a:ea typeface="+mn-lt"/>
                <a:cs typeface="+mn-lt"/>
              </a:rPr>
              <a:t>InputStreamReader</a:t>
            </a:r>
            <a:r>
              <a:rPr lang="en-US" dirty="0">
                <a:solidFill>
                  <a:srgbClr val="FFFFFF"/>
                </a:solidFill>
                <a:ea typeface="+mn-lt"/>
                <a:cs typeface="+mn-lt"/>
              </a:rPr>
              <a:t> in Java serves as a bridge, converting byte streams to character streams. It extends the Reader abstract class and decodes bytes into characters using a specified charset. This class is particularly useful when handling character-based data from a byte-based source, such as reading text from a file or network connection.</a:t>
            </a:r>
          </a:p>
        </p:txBody>
      </p:sp>
      <p:sp>
        <p:nvSpPr>
          <p:cNvPr id="5" name="Title 1"/>
          <p:cNvSpPr txBox="1"/>
          <p:nvPr/>
        </p:nvSpPr>
        <p:spPr>
          <a:xfrm>
            <a:off x="594191" y="3370791"/>
            <a:ext cx="7942492" cy="930265"/>
          </a:xfrm>
          <a:prstGeom prst="rect">
            <a:avLst/>
          </a:prstGeom>
        </p:spPr>
        <p:txBody>
          <a:bodyPr vert="horz" wrap="square" lIns="0" tIns="0" rIns="0" bIns="0" rtlCol="0" anchor="t" anchorCtr="0">
            <a:normAutofit/>
          </a:bodyPr>
          <a:lstStyle>
            <a:lvl1pPr algn="l" defTabSz="914400" rtl="0" eaLnBrk="1" latinLnBrk="0" hangingPunct="1">
              <a:lnSpc>
                <a:spcPct val="90000"/>
              </a:lnSpc>
              <a:spcBef>
                <a:spcPct val="0"/>
              </a:spcBef>
              <a:buNone/>
              <a:defRPr lang="en-US" sz="4000" kern="1200" dirty="0">
                <a:solidFill>
                  <a:schemeClr val="tx1"/>
                </a:solidFill>
                <a:latin typeface="+mj-lt"/>
                <a:ea typeface="+mj-ea"/>
                <a:cs typeface="+mj-cs"/>
              </a:defRPr>
            </a:lvl1pPr>
          </a:lstStyle>
          <a:p>
            <a:r>
              <a:rPr lang="en-US"/>
              <a:t>OutputStreamWriter</a:t>
            </a:r>
          </a:p>
        </p:txBody>
      </p:sp>
      <p:sp>
        <p:nvSpPr>
          <p:cNvPr id="7" name="Content Placeholder 2"/>
          <p:cNvSpPr txBox="1"/>
          <p:nvPr/>
        </p:nvSpPr>
        <p:spPr>
          <a:xfrm>
            <a:off x="596717" y="4289668"/>
            <a:ext cx="7939966" cy="2008897"/>
          </a:xfrm>
          <a:prstGeom prst="rect">
            <a:avLst/>
          </a:prstGeom>
        </p:spPr>
        <p:txBody>
          <a:bodyPr vert="horz" wrap="square" lIns="0" tIns="0" rIns="0" bIns="0" rtlCol="0" anchor="t">
            <a:normAutofit/>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FFFFF"/>
                </a:solidFill>
                <a:ea typeface="+mn-lt"/>
                <a:cs typeface="+mn-lt"/>
              </a:rPr>
              <a:t>An </a:t>
            </a:r>
            <a:r>
              <a:rPr lang="en-US" dirty="0" err="1">
                <a:solidFill>
                  <a:srgbClr val="FFFFFF"/>
                </a:solidFill>
                <a:ea typeface="+mn-lt"/>
                <a:cs typeface="+mn-lt"/>
              </a:rPr>
              <a:t>OutputStreamWriter</a:t>
            </a:r>
            <a:r>
              <a:rPr lang="en-US" dirty="0">
                <a:solidFill>
                  <a:srgbClr val="FFFFFF"/>
                </a:solidFill>
                <a:ea typeface="+mn-lt"/>
                <a:cs typeface="+mn-lt"/>
              </a:rPr>
              <a:t> is a bridge from character streams to byte streams: Characters written to it are encoded into bytes using a specified charset. The charset that it uses may be specified by name or may be given explicitly, or the platform's default charset may be accepted.</a:t>
            </a:r>
            <a:endParaRPr lang="en-US" dirty="0">
              <a:ea typeface="+mn-lt"/>
              <a:cs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8791" y="498474"/>
            <a:ext cx="7942492" cy="930265"/>
          </a:xfrm>
        </p:spPr>
        <p:txBody>
          <a:bodyPr/>
          <a:lstStyle/>
          <a:p>
            <a:r>
              <a:rPr lang="en-US"/>
              <a:t>ObjectInputStream</a:t>
            </a:r>
            <a:endParaRPr lang="en-US" dirty="0"/>
          </a:p>
        </p:txBody>
      </p:sp>
      <p:sp>
        <p:nvSpPr>
          <p:cNvPr id="3" name="Content Placeholder 2"/>
          <p:cNvSpPr>
            <a:spLocks noGrp="1"/>
          </p:cNvSpPr>
          <p:nvPr>
            <p:ph idx="1"/>
          </p:nvPr>
        </p:nvSpPr>
        <p:spPr>
          <a:xfrm>
            <a:off x="581900" y="1427934"/>
            <a:ext cx="8151633" cy="1955981"/>
          </a:xfrm>
        </p:spPr>
        <p:txBody>
          <a:bodyPr vert="horz" wrap="square" lIns="0" tIns="0" rIns="0" bIns="0" rtlCol="0" anchor="t">
            <a:normAutofit/>
          </a:bodyPr>
          <a:lstStyle/>
          <a:p>
            <a:r>
              <a:rPr lang="en-US" dirty="0">
                <a:solidFill>
                  <a:srgbClr val="FFFFFF"/>
                </a:solidFill>
                <a:ea typeface="+mn-lt"/>
                <a:cs typeface="+mn-lt"/>
              </a:rPr>
              <a:t>In Java, </a:t>
            </a:r>
            <a:r>
              <a:rPr lang="en-US" dirty="0" err="1">
                <a:solidFill>
                  <a:srgbClr val="FFFFFF"/>
                </a:solidFill>
                <a:ea typeface="+mn-lt"/>
                <a:cs typeface="+mn-lt"/>
              </a:rPr>
              <a:t>ObjectInputStream</a:t>
            </a:r>
            <a:r>
              <a:rPr lang="en-US" dirty="0">
                <a:solidFill>
                  <a:srgbClr val="FFFFFF"/>
                </a:solidFill>
                <a:ea typeface="+mn-lt"/>
                <a:cs typeface="+mn-lt"/>
              </a:rPr>
              <a:t> is a class used for deserializing objects, which is the process of reconstructing an object from a stream of bytes. It allows reading primitive data types and objects that were previously written using </a:t>
            </a:r>
            <a:r>
              <a:rPr lang="en-US" dirty="0" err="1">
                <a:solidFill>
                  <a:srgbClr val="FFFFFF"/>
                </a:solidFill>
                <a:ea typeface="+mn-lt"/>
                <a:cs typeface="+mn-lt"/>
              </a:rPr>
              <a:t>ObjectOutputStream</a:t>
            </a:r>
            <a:r>
              <a:rPr lang="en-US" dirty="0">
                <a:solidFill>
                  <a:srgbClr val="FFFFFF"/>
                </a:solidFill>
                <a:ea typeface="+mn-lt"/>
                <a:cs typeface="+mn-lt"/>
              </a:rPr>
              <a:t>. </a:t>
            </a:r>
          </a:p>
        </p:txBody>
      </p:sp>
      <p:sp>
        <p:nvSpPr>
          <p:cNvPr id="5" name="Title 1"/>
          <p:cNvSpPr txBox="1"/>
          <p:nvPr/>
        </p:nvSpPr>
        <p:spPr>
          <a:xfrm>
            <a:off x="594191" y="3370791"/>
            <a:ext cx="7942492" cy="930265"/>
          </a:xfrm>
          <a:prstGeom prst="rect">
            <a:avLst/>
          </a:prstGeom>
        </p:spPr>
        <p:txBody>
          <a:bodyPr vert="horz" wrap="square" lIns="0" tIns="0" rIns="0" bIns="0" rtlCol="0" anchor="t" anchorCtr="0">
            <a:normAutofit/>
          </a:bodyPr>
          <a:lstStyle>
            <a:lvl1pPr algn="l" defTabSz="914400" rtl="0" eaLnBrk="1" latinLnBrk="0" hangingPunct="1">
              <a:lnSpc>
                <a:spcPct val="90000"/>
              </a:lnSpc>
              <a:spcBef>
                <a:spcPct val="0"/>
              </a:spcBef>
              <a:buNone/>
              <a:defRPr lang="en-US" sz="4000" kern="1200" dirty="0">
                <a:solidFill>
                  <a:schemeClr val="tx1"/>
                </a:solidFill>
                <a:latin typeface="+mj-lt"/>
                <a:ea typeface="+mj-ea"/>
                <a:cs typeface="+mj-cs"/>
              </a:defRPr>
            </a:lvl1pPr>
          </a:lstStyle>
          <a:p>
            <a:r>
              <a:rPr lang="en-US"/>
              <a:t>ObjectOutputStream</a:t>
            </a:r>
          </a:p>
        </p:txBody>
      </p:sp>
      <p:sp>
        <p:nvSpPr>
          <p:cNvPr id="7" name="Content Placeholder 2"/>
          <p:cNvSpPr txBox="1"/>
          <p:nvPr/>
        </p:nvSpPr>
        <p:spPr>
          <a:xfrm>
            <a:off x="596717" y="4289668"/>
            <a:ext cx="7939966" cy="2008897"/>
          </a:xfrm>
          <a:prstGeom prst="rect">
            <a:avLst/>
          </a:prstGeom>
        </p:spPr>
        <p:txBody>
          <a:bodyPr vert="horz" wrap="square" lIns="0" tIns="0" rIns="0" bIns="0" rtlCol="0" anchor="t">
            <a:normAutofit/>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FFFFF"/>
                </a:solidFill>
                <a:ea typeface="+mn-lt"/>
                <a:cs typeface="+mn-lt"/>
              </a:rPr>
              <a:t>In Java, </a:t>
            </a:r>
            <a:r>
              <a:rPr lang="en-US" dirty="0" err="1">
                <a:solidFill>
                  <a:srgbClr val="FFFFFF"/>
                </a:solidFill>
                <a:ea typeface="+mn-lt"/>
                <a:cs typeface="+mn-lt"/>
              </a:rPr>
              <a:t>ObjectOutputStream</a:t>
            </a:r>
            <a:r>
              <a:rPr lang="en-US" dirty="0">
                <a:solidFill>
                  <a:srgbClr val="FFFFFF"/>
                </a:solidFill>
                <a:ea typeface="+mn-lt"/>
                <a:cs typeface="+mn-lt"/>
              </a:rPr>
              <a:t> facilitates writing objects to an output stream, enabling persistence or transmission. Serialization, the process of converting an object into a byte stream, is handled by </a:t>
            </a:r>
            <a:r>
              <a:rPr lang="en-US" dirty="0" err="1">
                <a:solidFill>
                  <a:srgbClr val="FFFFFF"/>
                </a:solidFill>
                <a:ea typeface="+mn-lt"/>
                <a:cs typeface="+mn-lt"/>
              </a:rPr>
              <a:t>ObjectOutputStream</a:t>
            </a:r>
            <a:r>
              <a:rPr lang="en-US" dirty="0">
                <a:solidFill>
                  <a:srgbClr val="FFFFFF"/>
                </a:solidFill>
                <a:ea typeface="+mn-lt"/>
                <a:cs typeface="+mn-lt"/>
              </a:rPr>
              <a:t>. This stream can then be stored in a file, database, or transmitted over a network.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31598CC-E9D8-46F1-A31D-21527BFD6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3118" y="428625"/>
            <a:ext cx="5848443" cy="1272646"/>
          </a:xfrm>
        </p:spPr>
        <p:txBody>
          <a:bodyPr vert="horz" lIns="91440" tIns="45720" rIns="91440" bIns="45720" rtlCol="0" anchor="ctr">
            <a:normAutofit/>
          </a:bodyPr>
          <a:lstStyle/>
          <a:p>
            <a:pPr algn="l"/>
            <a:r>
              <a:rPr lang="en-US" sz="4400"/>
              <a:t>Serializable</a:t>
            </a:r>
          </a:p>
        </p:txBody>
      </p:sp>
      <p:sp>
        <p:nvSpPr>
          <p:cNvPr id="13" name="Freeform: Shape 12">
            <a:extLst>
              <a:ext uri="{FF2B5EF4-FFF2-40B4-BE49-F238E27FC236}">
                <a16:creationId xmlns:a16="http://schemas.microsoft.com/office/drawing/2014/main" id="{CB147A70-DC29-4DDF-A34C-2B82C6E22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sz="half" idx="1"/>
          </p:nvPr>
        </p:nvSpPr>
        <p:spPr>
          <a:xfrm>
            <a:off x="351367" y="1825625"/>
            <a:ext cx="6229443" cy="4637088"/>
          </a:xfrm>
        </p:spPr>
        <p:txBody>
          <a:bodyPr vert="horz" wrap="square" lIns="91440" tIns="45720" rIns="91440" bIns="45720" rtlCol="0" anchor="t">
            <a:normAutofit/>
          </a:bodyPr>
          <a:lstStyle/>
          <a:p>
            <a:pPr marL="57150" indent="-285750" algn="l">
              <a:lnSpc>
                <a:spcPct val="90000"/>
              </a:lnSpc>
              <a:buChar char="•"/>
            </a:pPr>
            <a:r>
              <a:rPr lang="en-US" sz="1600" dirty="0"/>
              <a:t>The Serializable interface in Java is a marker interface, meaning it doesn't contain any methods or fields. Its primary purpose is to signal to the Java runtime that objects of a class implementing it can be converted into a byte stream (serialized) </a:t>
            </a:r>
            <a:endParaRPr lang="en-US" dirty="0"/>
          </a:p>
          <a:p>
            <a:pPr marL="57150" indent="-285750" algn="l">
              <a:lnSpc>
                <a:spcPct val="90000"/>
              </a:lnSpc>
              <a:buChar char="•"/>
            </a:pPr>
            <a:r>
              <a:rPr lang="en-US" sz="1600" dirty="0"/>
              <a:t>Serialization is useful for:</a:t>
            </a:r>
            <a:endParaRPr lang="en-US" dirty="0"/>
          </a:p>
          <a:p>
            <a:pPr marL="1028700" lvl="1" indent="-285750" algn="l">
              <a:lnSpc>
                <a:spcPct val="90000"/>
              </a:lnSpc>
              <a:buAutoNum type="arabicPeriod"/>
            </a:pPr>
            <a:r>
              <a:rPr lang="en-US" sz="1600" dirty="0"/>
              <a:t>Persisting objects to storage (e.g., files, databases).</a:t>
            </a:r>
          </a:p>
          <a:p>
            <a:pPr marL="1028700" lvl="1" indent="-285750" algn="l">
              <a:lnSpc>
                <a:spcPct val="90000"/>
              </a:lnSpc>
              <a:buAutoNum type="arabicPeriod"/>
            </a:pPr>
            <a:r>
              <a:rPr lang="en-US" sz="1600" dirty="0"/>
              <a:t>Transmitting objects across a network.</a:t>
            </a:r>
          </a:p>
          <a:p>
            <a:pPr marL="1028700" lvl="1" indent="-285750" algn="l">
              <a:lnSpc>
                <a:spcPct val="90000"/>
              </a:lnSpc>
              <a:buAutoNum type="arabicPeriod"/>
            </a:pPr>
            <a:r>
              <a:rPr lang="en-US" sz="1600" dirty="0"/>
              <a:t>Distributed cached objects – For better performance while working with objects in distributed system.</a:t>
            </a:r>
          </a:p>
          <a:p>
            <a:pPr marL="57150" indent="-285750" algn="l">
              <a:lnSpc>
                <a:spcPct val="90000"/>
              </a:lnSpc>
              <a:buChar char="•"/>
            </a:pPr>
            <a:r>
              <a:rPr lang="en-US" sz="1600" dirty="0"/>
              <a:t>To serialize an object, the class must implement </a:t>
            </a:r>
            <a:r>
              <a:rPr lang="en-US" sz="1600" dirty="0" err="1"/>
              <a:t>java.io.Serializable</a:t>
            </a:r>
            <a:r>
              <a:rPr lang="en-US" sz="1600" dirty="0"/>
              <a:t>. The </a:t>
            </a:r>
            <a:r>
              <a:rPr lang="en-US" sz="1600" dirty="0" err="1"/>
              <a:t>ObjectOutputStream</a:t>
            </a:r>
            <a:r>
              <a:rPr lang="en-US" sz="1600" dirty="0"/>
              <a:t> class is used to write the object's state to a stream, and </a:t>
            </a:r>
            <a:r>
              <a:rPr lang="en-US" sz="1600" dirty="0" err="1"/>
              <a:t>ObjectInputStream</a:t>
            </a:r>
            <a:r>
              <a:rPr lang="en-US" sz="1600" dirty="0"/>
              <a:t> is used to read it back that is Deserialization.</a:t>
            </a:r>
          </a:p>
        </p:txBody>
      </p:sp>
      <p:sp>
        <p:nvSpPr>
          <p:cNvPr id="14" name="Oval 13">
            <a:extLst>
              <a:ext uri="{FF2B5EF4-FFF2-40B4-BE49-F238E27FC236}">
                <a16:creationId xmlns:a16="http://schemas.microsoft.com/office/drawing/2014/main" id="{3B438362-1E1E-4C62-A99E-4134CB163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631"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C077334-5571-4B83-A83E-4CCCFA7B5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632" y="0"/>
            <a:ext cx="2093996" cy="1402773"/>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3" name="Straight Connector 22">
            <a:extLst>
              <a:ext uri="{FF2B5EF4-FFF2-40B4-BE49-F238E27FC236}">
                <a16:creationId xmlns:a16="http://schemas.microsoft.com/office/drawing/2014/main" id="{2F61ABFD-DE05-41FD-A6B7-6D40196C15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55865" y="1026771"/>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5" name="Freeform: Shape 24">
            <a:extLst>
              <a:ext uri="{FF2B5EF4-FFF2-40B4-BE49-F238E27FC236}">
                <a16:creationId xmlns:a16="http://schemas.microsoft.com/office/drawing/2014/main" id="{0F646DF8-223D-47DD-95B1-F2654229E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7" name="Arc 26">
            <a:extLst>
              <a:ext uri="{FF2B5EF4-FFF2-40B4-BE49-F238E27FC236}">
                <a16:creationId xmlns:a16="http://schemas.microsoft.com/office/drawing/2014/main" id="{4D3DC50D-CA0F-48F9-B17E-20D8669AA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97791" y="402001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4" name="Group 3"/>
          <p:cNvGrpSpPr/>
          <p:nvPr/>
        </p:nvGrpSpPr>
        <p:grpSpPr>
          <a:xfrm>
            <a:off x="8745968" y="1065304"/>
            <a:ext cx="2482114" cy="2570847"/>
            <a:chOff x="5243759" y="1363788"/>
            <a:chExt cx="734257" cy="760506"/>
          </a:xfrm>
        </p:grpSpPr>
        <p:sp>
          <p:nvSpPr>
            <p:cNvPr id="6" name="Freeform 5"/>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7" name="Freeform 6"/>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8" name="Freeform 8"/>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Group 12"/>
          <p:cNvGrpSpPr>
            <a:grpSpLocks noGrp="1" noUngrp="1" noRot="1" noChangeAspect="1" noMove="1" noResize="1"/>
          </p:cNvGrpSpPr>
          <p:nvPr/>
        </p:nvGrpSpPr>
        <p:grpSpPr>
          <a:xfrm>
            <a:off x="613998" y="5334748"/>
            <a:ext cx="678135" cy="990000"/>
            <a:chOff x="10490969" y="1448827"/>
            <a:chExt cx="678135" cy="990000"/>
          </a:xfrm>
        </p:grpSpPr>
        <p:sp>
          <p:nvSpPr>
            <p:cNvPr id="14" name="Freeform: Shape 13"/>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Oval 14"/>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6" name="Oval 15"/>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7" name="Freeform: Shape 16"/>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useBgFill="1">
        <p:nvSpPr>
          <p:cNvPr id="19" name="Rectangle 1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ctrTitle"/>
          </p:nvPr>
        </p:nvSpPr>
        <p:spPr>
          <a:xfrm>
            <a:off x="3188702" y="1009484"/>
            <a:ext cx="8452434" cy="1142556"/>
          </a:xfrm>
        </p:spPr>
        <p:txBody>
          <a:bodyPr vert="horz" wrap="square" lIns="0" tIns="0" rIns="0" bIns="0" rtlCol="0" anchor="t" anchorCtr="0">
            <a:normAutofit/>
          </a:bodyPr>
          <a:lstStyle/>
          <a:p>
            <a:pPr>
              <a:lnSpc>
                <a:spcPct val="100000"/>
              </a:lnSpc>
            </a:pPr>
            <a:r>
              <a:rPr lang="en-US" sz="4800" dirty="0"/>
              <a:t>Exception Handling</a:t>
            </a:r>
          </a:p>
        </p:txBody>
      </p:sp>
      <p:sp>
        <p:nvSpPr>
          <p:cNvPr id="21" name="Oval 20"/>
          <p:cNvSpPr>
            <a:spLocks noGrp="1" noRot="1" noChangeAspect="1" noMove="1" noResize="1" noEditPoints="1" noAdjustHandles="1" noChangeArrowheads="1" noChangeShapeType="1" noTextEdit="1"/>
          </p:cNvSpPr>
          <p:nvPr/>
        </p:nvSpPr>
        <p:spPr>
          <a:xfrm>
            <a:off x="1915959" y="218735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3" name="Freeform: Shape 22"/>
          <p:cNvSpPr>
            <a:spLocks noGrp="1" noRot="1" noChangeAspect="1" noMove="1" noResize="1" noEditPoints="1" noAdjustHandles="1" noChangeArrowheads="1" noChangeShapeType="1" noTextEdit="1"/>
          </p:cNvSpPr>
          <p:nvPr/>
        </p:nvSpPr>
        <p:spPr>
          <a:xfrm rot="13500000">
            <a:off x="373008" y="4919835"/>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96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Freeform: Shape 24"/>
          <p:cNvSpPr>
            <a:spLocks noGrp="1" noRot="1" noChangeAspect="1" noMove="1" noResize="1" noEditPoints="1" noAdjustHandles="1" noChangeArrowheads="1" noChangeShapeType="1" noTextEdit="1"/>
          </p:cNvSpPr>
          <p:nvPr/>
        </p:nvSpPr>
        <p:spPr>
          <a:xfrm rot="13500000">
            <a:off x="476583" y="4760475"/>
            <a:ext cx="1853969" cy="1042921"/>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75000"/>
              <a:lumOff val="25000"/>
              <a:alpha val="6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Oval 26"/>
          <p:cNvSpPr>
            <a:spLocks noGrp="1" noRot="1" noChangeAspect="1" noMove="1" noResize="1" noEditPoints="1" noAdjustHandles="1" noChangeArrowheads="1" noChangeShapeType="1" noTextEdit="1"/>
          </p:cNvSpPr>
          <p:nvPr/>
        </p:nvSpPr>
        <p:spPr>
          <a:xfrm rot="18900000">
            <a:off x="1085139" y="4330312"/>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9" name="Oval 28"/>
          <p:cNvSpPr>
            <a:spLocks noGrp="1" noRot="1" noChangeAspect="1" noMove="1" noResize="1" noEditPoints="1" noAdjustHandles="1" noChangeArrowheads="1" noChangeShapeType="1" noTextEdit="1"/>
          </p:cNvSpPr>
          <p:nvPr/>
        </p:nvSpPr>
        <p:spPr>
          <a:xfrm rot="18900000">
            <a:off x="2066166" y="5311337"/>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8" name="TextBox 7"/>
          <p:cNvSpPr txBox="1"/>
          <p:nvPr/>
        </p:nvSpPr>
        <p:spPr>
          <a:xfrm>
            <a:off x="3194205" y="2147960"/>
            <a:ext cx="7851204" cy="4035102"/>
          </a:xfrm>
          <a:prstGeom prst="rect">
            <a:avLst/>
          </a:prstGeom>
        </p:spPr>
        <p:txBody>
          <a:bodyPr rot="0" spcFirstLastPara="0" vertOverflow="overflow" horzOverflow="overflow" vert="horz" wrap="square" lIns="0" tIns="0" rIns="0" bIns="0" numCol="1" spcCol="0" rtlCol="0" fromWordArt="0" anchor="t" anchorCtr="0" forceAA="0" compatLnSpc="1">
            <a:noAutofit/>
          </a:bodyPr>
          <a:lstStyle/>
          <a:p>
            <a:r>
              <a:rPr lang="en-US" sz="2200" dirty="0">
                <a:ea typeface="+mn-lt"/>
                <a:cs typeface="+mn-lt"/>
              </a:rPr>
              <a:t>An Exception is an unwanted or unexpected event that occurs during the execution of a program (i.e., at runtime) and disrupts the normal flow of the program’s instructions. It occurs when something unexpected happens, like accessing an invalid index, dividing by zero, or trying to open a file that does not exist.</a:t>
            </a:r>
            <a:endParaRPr lang="en-US">
              <a:ea typeface="+mn-lt"/>
              <a:cs typeface="+mn-lt"/>
            </a:endParaRPr>
          </a:p>
          <a:p>
            <a:endParaRPr lang="en-US" sz="2200" dirty="0"/>
          </a:p>
          <a:p>
            <a:r>
              <a:rPr lang="en-US" sz="2200" dirty="0">
                <a:ea typeface="+mn-lt"/>
                <a:cs typeface="+mn-lt"/>
              </a:rPr>
              <a:t>Exception handling in Java allows developers to manage runtime exceptions effectively by using mechanisms like try-catch block, finally block, throwing Exceptions, Custom Exception handling, etc.</a:t>
            </a:r>
            <a:endParaRPr lang="en-US" dirty="0"/>
          </a:p>
          <a:p>
            <a:endParaRPr lang="en-US" sz="2200" dirty="0"/>
          </a:p>
          <a:p>
            <a:endParaRPr lang="en-US" sz="2200" dirty="0"/>
          </a:p>
          <a:p>
            <a:endParaRPr lang="en-US" sz="2200" dirty="0"/>
          </a:p>
          <a:p>
            <a:endParaRPr lang="en-US" sz="2200" dirty="0"/>
          </a:p>
          <a:p>
            <a:pPr>
              <a:spcAft>
                <a:spcPts val="800"/>
              </a:spcAft>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8EA67D7-1BEB-0FA2-4B95-8EE072C7BB66}"/>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34C8271E-2E5D-5624-FE59-3523A2002935}"/>
              </a:ext>
            </a:extLst>
          </p:cNvPr>
          <p:cNvGrpSpPr>
            <a:grpSpLocks noGrp="1" noUngrp="1" noRot="1" noChangeAspect="1" noMove="1" noResize="1"/>
          </p:cNvGrpSpPr>
          <p:nvPr/>
        </p:nvGrpSpPr>
        <p:grpSpPr>
          <a:xfrm>
            <a:off x="613998" y="5334748"/>
            <a:ext cx="678135" cy="990000"/>
            <a:chOff x="10490969" y="1448827"/>
            <a:chExt cx="678135" cy="990000"/>
          </a:xfrm>
        </p:grpSpPr>
        <p:sp>
          <p:nvSpPr>
            <p:cNvPr id="14" name="Freeform: Shape 13">
              <a:extLst>
                <a:ext uri="{FF2B5EF4-FFF2-40B4-BE49-F238E27FC236}">
                  <a16:creationId xmlns:a16="http://schemas.microsoft.com/office/drawing/2014/main" id="{91C8C70F-FA49-39AC-2BBF-5455FE9A6074}"/>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Oval 14">
              <a:extLst>
                <a:ext uri="{FF2B5EF4-FFF2-40B4-BE49-F238E27FC236}">
                  <a16:creationId xmlns:a16="http://schemas.microsoft.com/office/drawing/2014/main" id="{721026BF-66B6-42F4-1588-29732522B14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6" name="Oval 15">
              <a:extLst>
                <a:ext uri="{FF2B5EF4-FFF2-40B4-BE49-F238E27FC236}">
                  <a16:creationId xmlns:a16="http://schemas.microsoft.com/office/drawing/2014/main" id="{E5F5591A-4547-9761-2317-8AF617BB6F5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7" name="Freeform: Shape 16">
              <a:extLst>
                <a:ext uri="{FF2B5EF4-FFF2-40B4-BE49-F238E27FC236}">
                  <a16:creationId xmlns:a16="http://schemas.microsoft.com/office/drawing/2014/main" id="{B23A5C00-4954-436E-7B1C-DF8BCD73D140}"/>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useBgFill="1">
        <p:nvSpPr>
          <p:cNvPr id="19" name="Rectangle 18">
            <a:extLst>
              <a:ext uri="{FF2B5EF4-FFF2-40B4-BE49-F238E27FC236}">
                <a16:creationId xmlns:a16="http://schemas.microsoft.com/office/drawing/2014/main" id="{3D120A3E-CAF9-C7BA-9E62-502EA9FFFCC3}"/>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990F0D9-ECBB-9A4E-E7CE-9A7BA959ED17}"/>
              </a:ext>
            </a:extLst>
          </p:cNvPr>
          <p:cNvSpPr>
            <a:spLocks noGrp="1" noRot="1" noChangeAspect="1" noMove="1" noResize="1" noEditPoints="1" noAdjustHandles="1" noChangeArrowheads="1" noChangeShapeType="1" noTextEdit="1"/>
          </p:cNvSpPr>
          <p:nvPr/>
        </p:nvSpPr>
        <p:spPr>
          <a:xfrm>
            <a:off x="1915959" y="218735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3" name="Freeform: Shape 22">
            <a:extLst>
              <a:ext uri="{FF2B5EF4-FFF2-40B4-BE49-F238E27FC236}">
                <a16:creationId xmlns:a16="http://schemas.microsoft.com/office/drawing/2014/main" id="{00C8A9C1-BC45-F137-EF0D-199232667F3A}"/>
              </a:ext>
            </a:extLst>
          </p:cNvPr>
          <p:cNvSpPr>
            <a:spLocks noGrp="1" noRot="1" noChangeAspect="1" noMove="1" noResize="1" noEditPoints="1" noAdjustHandles="1" noChangeArrowheads="1" noChangeShapeType="1" noTextEdit="1"/>
          </p:cNvSpPr>
          <p:nvPr/>
        </p:nvSpPr>
        <p:spPr>
          <a:xfrm rot="13500000">
            <a:off x="373008" y="4919835"/>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96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Freeform: Shape 24">
            <a:extLst>
              <a:ext uri="{FF2B5EF4-FFF2-40B4-BE49-F238E27FC236}">
                <a16:creationId xmlns:a16="http://schemas.microsoft.com/office/drawing/2014/main" id="{AEF0CD0C-9CD4-22F0-0EC3-FAD6B150C52D}"/>
              </a:ext>
            </a:extLst>
          </p:cNvPr>
          <p:cNvSpPr>
            <a:spLocks noGrp="1" noRot="1" noChangeAspect="1" noMove="1" noResize="1" noEditPoints="1" noAdjustHandles="1" noChangeArrowheads="1" noChangeShapeType="1" noTextEdit="1"/>
          </p:cNvSpPr>
          <p:nvPr/>
        </p:nvSpPr>
        <p:spPr>
          <a:xfrm rot="13500000">
            <a:off x="476583" y="4760475"/>
            <a:ext cx="1853969" cy="1042921"/>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75000"/>
              <a:lumOff val="25000"/>
              <a:alpha val="6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Oval 26">
            <a:extLst>
              <a:ext uri="{FF2B5EF4-FFF2-40B4-BE49-F238E27FC236}">
                <a16:creationId xmlns:a16="http://schemas.microsoft.com/office/drawing/2014/main" id="{C4D1E3D3-EB0B-3588-B3C8-B2E29AAA337C}"/>
              </a:ext>
            </a:extLst>
          </p:cNvPr>
          <p:cNvSpPr>
            <a:spLocks noGrp="1" noRot="1" noChangeAspect="1" noMove="1" noResize="1" noEditPoints="1" noAdjustHandles="1" noChangeArrowheads="1" noChangeShapeType="1" noTextEdit="1"/>
          </p:cNvSpPr>
          <p:nvPr/>
        </p:nvSpPr>
        <p:spPr>
          <a:xfrm rot="18900000">
            <a:off x="1085139" y="4330312"/>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9" name="Oval 28">
            <a:extLst>
              <a:ext uri="{FF2B5EF4-FFF2-40B4-BE49-F238E27FC236}">
                <a16:creationId xmlns:a16="http://schemas.microsoft.com/office/drawing/2014/main" id="{E3DE9558-0E6A-F16D-ABFF-8854BCFFFEB5}"/>
              </a:ext>
            </a:extLst>
          </p:cNvPr>
          <p:cNvSpPr>
            <a:spLocks noGrp="1" noRot="1" noChangeAspect="1" noMove="1" noResize="1" noEditPoints="1" noAdjustHandles="1" noChangeArrowheads="1" noChangeShapeType="1" noTextEdit="1"/>
          </p:cNvSpPr>
          <p:nvPr/>
        </p:nvSpPr>
        <p:spPr>
          <a:xfrm rot="18900000">
            <a:off x="2066166" y="5311337"/>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pic>
        <p:nvPicPr>
          <p:cNvPr id="5" name="Picture 4" descr="A diagram of a flowchart&#10;&#10;AI-generated content may be incorrect.">
            <a:extLst>
              <a:ext uri="{FF2B5EF4-FFF2-40B4-BE49-F238E27FC236}">
                <a16:creationId xmlns:a16="http://schemas.microsoft.com/office/drawing/2014/main" id="{39ED41CE-9B5E-E6D7-4886-0D7F8517043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17000"/>
                    </a14:imgEffect>
                  </a14:imgLayer>
                </a14:imgProps>
              </a:ext>
            </a:extLst>
          </a:blip>
          <a:stretch>
            <a:fillRect/>
          </a:stretch>
        </p:blipFill>
        <p:spPr>
          <a:xfrm>
            <a:off x="2874044" y="1679659"/>
            <a:ext cx="6915150" cy="4631657"/>
          </a:xfrm>
          <a:prstGeom prst="rect">
            <a:avLst/>
          </a:prstGeom>
        </p:spPr>
      </p:pic>
      <p:sp>
        <p:nvSpPr>
          <p:cNvPr id="7" name="Title 2">
            <a:extLst>
              <a:ext uri="{FF2B5EF4-FFF2-40B4-BE49-F238E27FC236}">
                <a16:creationId xmlns:a16="http://schemas.microsoft.com/office/drawing/2014/main" id="{BE245339-27CB-168F-6306-6C0BAAAF8BE1}"/>
              </a:ext>
            </a:extLst>
          </p:cNvPr>
          <p:cNvSpPr>
            <a:spLocks noGrp="1"/>
          </p:cNvSpPr>
          <p:nvPr>
            <p:ph type="ctrTitle"/>
          </p:nvPr>
        </p:nvSpPr>
        <p:spPr>
          <a:xfrm>
            <a:off x="2887913" y="437984"/>
            <a:ext cx="8753223" cy="821713"/>
          </a:xfrm>
        </p:spPr>
        <p:txBody>
          <a:bodyPr vert="horz" wrap="square" lIns="0" tIns="0" rIns="0" bIns="0" rtlCol="0" anchor="t" anchorCtr="0">
            <a:normAutofit/>
          </a:bodyPr>
          <a:lstStyle/>
          <a:p>
            <a:pPr>
              <a:lnSpc>
                <a:spcPct val="100000"/>
              </a:lnSpc>
            </a:pPr>
            <a:r>
              <a:rPr lang="en-US" sz="4800" dirty="0"/>
              <a:t>Exception Handling</a:t>
            </a:r>
          </a:p>
        </p:txBody>
      </p:sp>
    </p:spTree>
    <p:extLst>
      <p:ext uri="{BB962C8B-B14F-4D97-AF65-F5344CB8AC3E}">
        <p14:creationId xmlns:p14="http://schemas.microsoft.com/office/powerpoint/2010/main" val="2887956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iagram of a algorithm&#10;&#10;AI-generated content may be incorrect.">
            <a:extLst>
              <a:ext uri="{FF2B5EF4-FFF2-40B4-BE49-F238E27FC236}">
                <a16:creationId xmlns:a16="http://schemas.microsoft.com/office/drawing/2014/main" id="{474E3DEF-8DCA-78A5-B2DF-E30A658877DF}"/>
              </a:ext>
            </a:extLst>
          </p:cNvPr>
          <p:cNvPicPr>
            <a:picLocks noChangeAspect="1"/>
          </p:cNvPicPr>
          <p:nvPr/>
        </p:nvPicPr>
        <p:blipFill>
          <a:blip r:embed="rId3"/>
          <a:srcRect l="2121" r="2768"/>
          <a:stretch>
            <a:fillRect/>
          </a:stretch>
        </p:blipFill>
        <p:spPr>
          <a:xfrm>
            <a:off x="621668" y="623267"/>
            <a:ext cx="4818579" cy="2982908"/>
          </a:xfrm>
          <a:prstGeom prst="rect">
            <a:avLst/>
          </a:prstGeom>
        </p:spPr>
      </p:pic>
      <p:pic>
        <p:nvPicPr>
          <p:cNvPr id="4" name="Picture 3">
            <a:extLst>
              <a:ext uri="{FF2B5EF4-FFF2-40B4-BE49-F238E27FC236}">
                <a16:creationId xmlns:a16="http://schemas.microsoft.com/office/drawing/2014/main" id="{41696D17-7BD3-59A3-EC83-BDBC356951E3}"/>
              </a:ext>
            </a:extLst>
          </p:cNvPr>
          <p:cNvPicPr>
            <a:picLocks noChangeAspect="1"/>
          </p:cNvPicPr>
          <p:nvPr/>
        </p:nvPicPr>
        <p:blipFill>
          <a:blip r:embed="rId4"/>
          <a:srcRect t="-3092" b="-2820"/>
          <a:stretch>
            <a:fillRect/>
          </a:stretch>
        </p:blipFill>
        <p:spPr>
          <a:xfrm>
            <a:off x="621682" y="3977431"/>
            <a:ext cx="5474377" cy="2493165"/>
          </a:xfrm>
          <a:prstGeom prst="rect">
            <a:avLst/>
          </a:prstGeom>
        </p:spPr>
      </p:pic>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086A5A31-B10A-4793-84D4-D785959AE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5201" y="623275"/>
            <a:ext cx="5141626"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txBox="1"/>
          <p:nvPr/>
        </p:nvSpPr>
        <p:spPr>
          <a:xfrm>
            <a:off x="6889833" y="1188637"/>
            <a:ext cx="4218138" cy="1597228"/>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pPr>
              <a:spcAft>
                <a:spcPts val="600"/>
              </a:spcAft>
            </a:pPr>
            <a:r>
              <a:rPr lang="en-US" sz="4600" kern="1200">
                <a:solidFill>
                  <a:schemeClr val="tx1"/>
                </a:solidFill>
                <a:latin typeface="+mj-lt"/>
                <a:ea typeface="+mj-ea"/>
                <a:cs typeface="+mj-cs"/>
              </a:rPr>
              <a:t>Java Exception Hierarchy</a:t>
            </a:r>
          </a:p>
        </p:txBody>
      </p:sp>
      <p:sp>
        <p:nvSpPr>
          <p:cNvPr id="3" name="TextBox 2"/>
          <p:cNvSpPr txBox="1"/>
          <p:nvPr/>
        </p:nvSpPr>
        <p:spPr>
          <a:xfrm>
            <a:off x="6889831" y="2998277"/>
            <a:ext cx="3963699" cy="1964661"/>
          </a:xfrm>
          <a:prstGeom prst="rect">
            <a:avLst/>
          </a:prstGeom>
        </p:spPr>
        <p:txBody>
          <a:bodyPr rot="0" spcFirstLastPara="0" vertOverflow="overflow" horzOverflow="overflow" vert="horz" lIns="91440" tIns="45720" rIns="91440" bIns="45720" numCol="1" spcCol="0" rtlCol="0" fromWordArt="0" anchor="t" anchorCtr="0" forceAA="0" compatLnSpc="1">
            <a:normAutofit/>
          </a:bodyPr>
          <a:lstStyle/>
          <a:p>
            <a:pPr indent="-228600">
              <a:lnSpc>
                <a:spcPct val="90000"/>
              </a:lnSpc>
              <a:spcAft>
                <a:spcPts val="800"/>
              </a:spcAft>
              <a:buFont typeface="Arial" panose="020B0604020202020204" pitchFamily="34" charset="0"/>
              <a:buChar char="•"/>
            </a:pPr>
            <a:r>
              <a:rPr lang="en-US" sz="2000"/>
              <a:t>All exception and error types are subclasses of the class Throwable, which is the base class of the hierarchy.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CA3182-D840-E8BD-31C0-5B0184C44AD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2C36772-D4EE-77EC-5D63-B581B18533DC}"/>
              </a:ext>
            </a:extLst>
          </p:cNvPr>
          <p:cNvSpPr txBox="1"/>
          <p:nvPr/>
        </p:nvSpPr>
        <p:spPr>
          <a:xfrm>
            <a:off x="310486" y="498474"/>
            <a:ext cx="8200797" cy="414263"/>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pPr marL="514350" indent="-514350">
              <a:buAutoNum type="alphaUcPeriod"/>
            </a:pPr>
            <a:r>
              <a:rPr lang="en-US" sz="3200" dirty="0"/>
              <a:t>Checked Exception</a:t>
            </a:r>
            <a:endParaRPr lang="en-US" dirty="0"/>
          </a:p>
        </p:txBody>
      </p:sp>
      <p:sp>
        <p:nvSpPr>
          <p:cNvPr id="3" name="TextBox 2">
            <a:extLst>
              <a:ext uri="{FF2B5EF4-FFF2-40B4-BE49-F238E27FC236}">
                <a16:creationId xmlns:a16="http://schemas.microsoft.com/office/drawing/2014/main" id="{6C2910A7-9E36-FC2A-2FD7-812AF220377D}"/>
              </a:ext>
            </a:extLst>
          </p:cNvPr>
          <p:cNvSpPr txBox="1"/>
          <p:nvPr/>
        </p:nvSpPr>
        <p:spPr>
          <a:xfrm>
            <a:off x="592803" y="1225538"/>
            <a:ext cx="11202031" cy="5411766"/>
          </a:xfrm>
          <a:prstGeom prst="rect">
            <a:avLst/>
          </a:prstGeom>
        </p:spPr>
        <p:txBody>
          <a:bodyPr rot="0" spcFirstLastPara="0" vertOverflow="overflow" horzOverflow="overflow" vert="horz" wrap="square" lIns="0" tIns="0" rIns="0" bIns="0" numCol="1" spcCol="0" rtlCol="0" fromWordArt="0" anchor="t" anchorCtr="0" forceAA="0" compatLnSpc="1">
            <a:noAutofit/>
          </a:bodyPr>
          <a:lstStyle/>
          <a:p>
            <a:pPr>
              <a:spcAft>
                <a:spcPts val="800"/>
              </a:spcAft>
            </a:pPr>
            <a:r>
              <a:rPr lang="en-US" sz="2200" dirty="0"/>
              <a:t>Checked exceptions are called compile-time exceptions because these exceptions are checked at compile-time by the compiler. Examples of Checked Exception are listed below: </a:t>
            </a:r>
          </a:p>
          <a:p>
            <a:pPr>
              <a:spcAft>
                <a:spcPts val="800"/>
              </a:spcAft>
            </a:pPr>
            <a:endParaRPr lang="en-US" sz="2200" dirty="0"/>
          </a:p>
          <a:p>
            <a:pPr marL="457200" indent="-457200">
              <a:spcAft>
                <a:spcPts val="800"/>
              </a:spcAft>
              <a:buAutoNum type="arabicPeriod"/>
            </a:pPr>
            <a:r>
              <a:rPr lang="en-US" sz="2200" dirty="0" err="1"/>
              <a:t>ClassNotFoundException</a:t>
            </a:r>
            <a:r>
              <a:rPr lang="en-US" sz="2200" dirty="0"/>
              <a:t>: Throws when the program tries to load a class at runtime but the class is not found because the class is not present in the correct location or it is missing from the project. </a:t>
            </a:r>
          </a:p>
          <a:p>
            <a:pPr marL="457200" indent="-457200">
              <a:spcAft>
                <a:spcPts val="800"/>
              </a:spcAft>
              <a:buAutoNum type="arabicPeriod"/>
            </a:pPr>
            <a:r>
              <a:rPr lang="en-US" sz="2200" err="1"/>
              <a:t>IOException</a:t>
            </a:r>
            <a:r>
              <a:rPr lang="en-US" sz="2200" dirty="0"/>
              <a:t>: Throws when input/output operation fails. </a:t>
            </a:r>
          </a:p>
          <a:p>
            <a:pPr marL="457200" indent="-457200">
              <a:spcAft>
                <a:spcPts val="800"/>
              </a:spcAft>
              <a:buAutoNum type="arabicPeriod"/>
            </a:pPr>
            <a:r>
              <a:rPr lang="en-US" sz="2200" err="1"/>
              <a:t>InstantiationException</a:t>
            </a:r>
            <a:r>
              <a:rPr lang="en-US" sz="2200" dirty="0"/>
              <a:t>: Thrown when the program tries to create an object of a class but fails because the class is abstract, an interface, or has no default constructor. </a:t>
            </a:r>
          </a:p>
          <a:p>
            <a:pPr marL="457200" indent="-457200">
              <a:spcAft>
                <a:spcPts val="800"/>
              </a:spcAft>
              <a:buAutoNum type="arabicPeriod"/>
            </a:pPr>
            <a:r>
              <a:rPr lang="en-US" sz="2200" err="1"/>
              <a:t>SQLException</a:t>
            </a:r>
            <a:r>
              <a:rPr lang="en-US" sz="2200" dirty="0"/>
              <a:t>: Throws when there’s an error with the database. </a:t>
            </a:r>
          </a:p>
          <a:p>
            <a:pPr marL="457200" indent="-457200">
              <a:spcAft>
                <a:spcPts val="800"/>
              </a:spcAft>
              <a:buAutoNum type="arabicPeriod"/>
            </a:pPr>
            <a:r>
              <a:rPr lang="en-US" sz="2200" dirty="0" err="1"/>
              <a:t>FileNotFoundException</a:t>
            </a:r>
            <a:r>
              <a:rPr lang="en-US" sz="2200" dirty="0"/>
              <a:t>: Thrown when the program tries to open a file that doesn’t exist.</a:t>
            </a:r>
          </a:p>
          <a:p>
            <a:pPr marL="457200" indent="-457200">
              <a:spcAft>
                <a:spcPts val="800"/>
              </a:spcAft>
              <a:buAutoNum type="arabicPeriod"/>
            </a:pPr>
            <a:r>
              <a:rPr lang="en-US" sz="2200" dirty="0" err="1"/>
              <a:t>InterruptedException</a:t>
            </a:r>
            <a:r>
              <a:rPr lang="en-US" sz="2200" dirty="0"/>
              <a:t>: Thrown when a thread is paused and another thread interrupts it. </a:t>
            </a:r>
          </a:p>
          <a:p>
            <a:pPr>
              <a:spcAft>
                <a:spcPts val="800"/>
              </a:spcAft>
            </a:pPr>
            <a:endParaRPr lang="en-US" sz="2200" dirty="0"/>
          </a:p>
        </p:txBody>
      </p:sp>
    </p:spTree>
    <p:extLst>
      <p:ext uri="{BB962C8B-B14F-4D97-AF65-F5344CB8AC3E}">
        <p14:creationId xmlns:p14="http://schemas.microsoft.com/office/powerpoint/2010/main" val="1315558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3D7DCF-647F-5112-AFFB-9FBCD0E8FB2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77B47E9-1123-FB52-48D6-ACD197EF4409}"/>
              </a:ext>
            </a:extLst>
          </p:cNvPr>
          <p:cNvSpPr txBox="1"/>
          <p:nvPr/>
        </p:nvSpPr>
        <p:spPr>
          <a:xfrm>
            <a:off x="310486" y="498474"/>
            <a:ext cx="8200797" cy="414263"/>
          </a:xfrm>
          <a:prstGeom prst="rect">
            <a:avLst/>
          </a:prstGeom>
        </p:spPr>
        <p:txBody>
          <a:bodyPr vert="horz" wrap="square" lIns="91440" tIns="0" rIns="0" bIns="0" rtlCol="0" anchor="b" anchorCtr="0">
            <a:noAutofit/>
          </a:bodyPr>
          <a:lstStyle>
            <a:lvl1pPr algn="l" defTabSz="914400" rtl="0" eaLnBrk="1" latinLnBrk="0" hangingPunct="1">
              <a:lnSpc>
                <a:spcPct val="90000"/>
              </a:lnSpc>
              <a:spcBef>
                <a:spcPct val="0"/>
              </a:spcBef>
              <a:buNone/>
              <a:defRPr lang="en-US" sz="4000" kern="1200">
                <a:solidFill>
                  <a:schemeClr val="tx1"/>
                </a:solidFill>
                <a:latin typeface="+mj-lt"/>
                <a:ea typeface="+mj-ea"/>
                <a:cs typeface="+mj-cs"/>
              </a:defRPr>
            </a:lvl1pPr>
          </a:lstStyle>
          <a:p>
            <a:r>
              <a:rPr lang="en-US" sz="3200" dirty="0"/>
              <a:t>B.   Unchecked Exception</a:t>
            </a:r>
            <a:endParaRPr lang="en-US" dirty="0"/>
          </a:p>
        </p:txBody>
      </p:sp>
      <p:sp>
        <p:nvSpPr>
          <p:cNvPr id="3" name="TextBox 2">
            <a:extLst>
              <a:ext uri="{FF2B5EF4-FFF2-40B4-BE49-F238E27FC236}">
                <a16:creationId xmlns:a16="http://schemas.microsoft.com/office/drawing/2014/main" id="{E379042F-7B17-5B53-9079-CD1D636847C1}"/>
              </a:ext>
            </a:extLst>
          </p:cNvPr>
          <p:cNvSpPr txBox="1"/>
          <p:nvPr/>
        </p:nvSpPr>
        <p:spPr>
          <a:xfrm>
            <a:off x="642934" y="1195459"/>
            <a:ext cx="11071689" cy="5161108"/>
          </a:xfrm>
          <a:prstGeom prst="rect">
            <a:avLst/>
          </a:prstGeom>
        </p:spPr>
        <p:txBody>
          <a:bodyPr rot="0" spcFirstLastPara="0" vertOverflow="overflow" horzOverflow="overflow" vert="horz" wrap="square" lIns="0" tIns="0" rIns="0" bIns="0" numCol="1" spcCol="0" rtlCol="0" fromWordArt="0" anchor="t" anchorCtr="0" forceAA="0" compatLnSpc="1">
            <a:noAutofit/>
          </a:bodyPr>
          <a:lstStyle/>
          <a:p>
            <a:r>
              <a:rPr lang="en-US" sz="2200" dirty="0">
                <a:ea typeface="+mn-lt"/>
                <a:cs typeface="+mn-lt"/>
              </a:rPr>
              <a:t>The unchecked exceptions are just opposite to the checked exceptions. The compiler will not check these exceptions at compile time. In simple words, if a program throws an unchecked exception, the program will not give a compilation error. </a:t>
            </a:r>
            <a:endParaRPr lang="en-US" sz="2200" dirty="0"/>
          </a:p>
          <a:p>
            <a:endParaRPr lang="en-US" sz="2200" dirty="0">
              <a:ea typeface="+mn-lt"/>
              <a:cs typeface="+mn-lt"/>
            </a:endParaRPr>
          </a:p>
          <a:p>
            <a:pPr marL="457200" indent="-457200">
              <a:buAutoNum type="arabicPeriod"/>
            </a:pPr>
            <a:r>
              <a:rPr lang="en-US" sz="2200" dirty="0" err="1">
                <a:ea typeface="+mn-lt"/>
                <a:cs typeface="+mn-lt"/>
              </a:rPr>
              <a:t>ArithmeticException</a:t>
            </a:r>
            <a:r>
              <a:rPr lang="en-US" sz="2200" dirty="0">
                <a:ea typeface="+mn-lt"/>
                <a:cs typeface="+mn-lt"/>
              </a:rPr>
              <a:t>: It is thrown when there’s an illegal math operation.</a:t>
            </a:r>
            <a:endParaRPr lang="en-US" sz="2200" dirty="0"/>
          </a:p>
          <a:p>
            <a:pPr marL="457200" indent="-457200">
              <a:buAutoNum type="arabicPeriod"/>
            </a:pPr>
            <a:r>
              <a:rPr lang="en-US" sz="2200" dirty="0" err="1">
                <a:ea typeface="+mn-lt"/>
                <a:cs typeface="+mn-lt"/>
              </a:rPr>
              <a:t>ClassCastException</a:t>
            </a:r>
            <a:r>
              <a:rPr lang="en-US" sz="2200" dirty="0">
                <a:ea typeface="+mn-lt"/>
                <a:cs typeface="+mn-lt"/>
              </a:rPr>
              <a:t>: It occurs when you try to cast an object to a class it does not belong to.</a:t>
            </a:r>
            <a:endParaRPr lang="en-US" sz="2200"/>
          </a:p>
          <a:p>
            <a:pPr marL="457200" indent="-457200">
              <a:buAutoNum type="arabicPeriod"/>
            </a:pPr>
            <a:r>
              <a:rPr lang="en-US" sz="2200" dirty="0" err="1">
                <a:ea typeface="+mn-lt"/>
                <a:cs typeface="+mn-lt"/>
              </a:rPr>
              <a:t>NullPointerException</a:t>
            </a:r>
            <a:r>
              <a:rPr lang="en-US" sz="2200" dirty="0">
                <a:ea typeface="+mn-lt"/>
                <a:cs typeface="+mn-lt"/>
              </a:rPr>
              <a:t>: It is thrown when you try to use a null object (e.g. accessing its methods or fields)</a:t>
            </a:r>
            <a:endParaRPr lang="en-US" sz="2200" dirty="0"/>
          </a:p>
          <a:p>
            <a:pPr marL="457200" indent="-457200">
              <a:buAutoNum type="arabicPeriod"/>
            </a:pPr>
            <a:r>
              <a:rPr lang="en-US" sz="2200" err="1">
                <a:ea typeface="+mn-lt"/>
                <a:cs typeface="+mn-lt"/>
              </a:rPr>
              <a:t>ArrayIndexOutOfBoundsException</a:t>
            </a:r>
            <a:r>
              <a:rPr lang="en-US" sz="2200" dirty="0">
                <a:ea typeface="+mn-lt"/>
                <a:cs typeface="+mn-lt"/>
              </a:rPr>
              <a:t>: It occurs when we try to access an array element with an invalid index.</a:t>
            </a:r>
            <a:endParaRPr lang="en-US" sz="2200" dirty="0"/>
          </a:p>
          <a:p>
            <a:pPr marL="457200" indent="-457200">
              <a:buAutoNum type="arabicPeriod"/>
            </a:pPr>
            <a:r>
              <a:rPr lang="en-US" sz="2200" err="1">
                <a:ea typeface="+mn-lt"/>
                <a:cs typeface="+mn-lt"/>
              </a:rPr>
              <a:t>ArrayStoreException</a:t>
            </a:r>
            <a:r>
              <a:rPr lang="en-US" sz="2200" dirty="0">
                <a:ea typeface="+mn-lt"/>
                <a:cs typeface="+mn-lt"/>
              </a:rPr>
              <a:t>: This happens when you store an object of the wrong type in an array.</a:t>
            </a:r>
            <a:endParaRPr lang="en-US" sz="2200" dirty="0"/>
          </a:p>
          <a:p>
            <a:pPr marL="457200" indent="-457200">
              <a:spcAft>
                <a:spcPts val="800"/>
              </a:spcAft>
              <a:buAutoNum type="arabicPeriod"/>
            </a:pPr>
            <a:r>
              <a:rPr lang="en-US" sz="2200" err="1">
                <a:ea typeface="+mn-lt"/>
                <a:cs typeface="+mn-lt"/>
              </a:rPr>
              <a:t>IllegalThreadStateException</a:t>
            </a:r>
            <a:r>
              <a:rPr lang="en-US" sz="2200" dirty="0">
                <a:ea typeface="+mn-lt"/>
                <a:cs typeface="+mn-lt"/>
              </a:rPr>
              <a:t>: It is thrown when a thread operation is not allowed in its current state</a:t>
            </a:r>
            <a:endParaRPr lang="en-US" sz="2200" dirty="0"/>
          </a:p>
        </p:txBody>
      </p:sp>
    </p:spTree>
    <p:extLst>
      <p:ext uri="{BB962C8B-B14F-4D97-AF65-F5344CB8AC3E}">
        <p14:creationId xmlns:p14="http://schemas.microsoft.com/office/powerpoint/2010/main" val="32295690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113" y="560961"/>
            <a:ext cx="11079692" cy="519810"/>
          </a:xfrm>
          <a:noFill/>
        </p:spPr>
        <p:txBody>
          <a:bodyPr anchor="t"/>
          <a:lstStyle/>
          <a:p>
            <a:r>
              <a:rPr lang="en-US" sz="3200" dirty="0"/>
              <a:t>Throw vs Throws</a:t>
            </a:r>
          </a:p>
        </p:txBody>
      </p:sp>
      <p:graphicFrame>
        <p:nvGraphicFramePr>
          <p:cNvPr id="13" name="Table Placeholder 3"/>
          <p:cNvGraphicFramePr>
            <a:graphicFrameLocks noGrp="1"/>
          </p:cNvGraphicFramePr>
          <p:nvPr>
            <p:ph sz="half" idx="1"/>
            <p:extLst>
              <p:ext uri="{D42A27DB-BD31-4B8C-83A1-F6EECF244321}">
                <p14:modId xmlns:p14="http://schemas.microsoft.com/office/powerpoint/2010/main" val="2500658936"/>
              </p:ext>
            </p:extLst>
          </p:nvPr>
        </p:nvGraphicFramePr>
        <p:xfrm>
          <a:off x="635000" y="1439333"/>
          <a:ext cx="10942432" cy="4779053"/>
        </p:xfrm>
        <a:graphic>
          <a:graphicData uri="http://schemas.openxmlformats.org/drawingml/2006/table">
            <a:tbl>
              <a:tblPr firstRow="1" bandRow="1">
                <a:tableStyleId>{5202B0CA-FC54-4496-8BCA-5EF66A818D29}</a:tableStyleId>
              </a:tblPr>
              <a:tblGrid>
                <a:gridCol w="2463777">
                  <a:extLst>
                    <a:ext uri="{9D8B030D-6E8A-4147-A177-3AD203B41FA5}">
                      <a16:colId xmlns:a16="http://schemas.microsoft.com/office/drawing/2014/main" val="20003"/>
                    </a:ext>
                  </a:extLst>
                </a:gridCol>
                <a:gridCol w="4362613">
                  <a:extLst>
                    <a:ext uri="{9D8B030D-6E8A-4147-A177-3AD203B41FA5}">
                      <a16:colId xmlns:a16="http://schemas.microsoft.com/office/drawing/2014/main" val="3923462326"/>
                    </a:ext>
                  </a:extLst>
                </a:gridCol>
                <a:gridCol w="4116042">
                  <a:extLst>
                    <a:ext uri="{9D8B030D-6E8A-4147-A177-3AD203B41FA5}">
                      <a16:colId xmlns:a16="http://schemas.microsoft.com/office/drawing/2014/main" val="112752758"/>
                    </a:ext>
                  </a:extLst>
                </a:gridCol>
              </a:tblGrid>
              <a:tr h="666070">
                <a:tc>
                  <a:txBody>
                    <a:bodyPr/>
                    <a:lstStyle/>
                    <a:p>
                      <a:pPr lvl="0" algn="l">
                        <a:buNone/>
                      </a:pPr>
                      <a:r>
                        <a:rPr lang="en-US" sz="2400" dirty="0"/>
                        <a:t>Feature</a:t>
                      </a:r>
                    </a:p>
                  </a:txBody>
                  <a:tcPr anchor="ctr"/>
                </a:tc>
                <a:tc>
                  <a:txBody>
                    <a:bodyPr/>
                    <a:lstStyle/>
                    <a:p>
                      <a:pPr lvl="0" algn="l">
                        <a:buNone/>
                      </a:pPr>
                      <a:r>
                        <a:rPr lang="en-US" sz="2400" dirty="0"/>
                        <a:t>throw</a:t>
                      </a:r>
                    </a:p>
                  </a:txBody>
                  <a:tcPr anchor="ctr"/>
                </a:tc>
                <a:tc>
                  <a:txBody>
                    <a:bodyPr/>
                    <a:lstStyle/>
                    <a:p>
                      <a:pPr lvl="0" algn="l">
                        <a:buNone/>
                      </a:pPr>
                      <a:r>
                        <a:rPr lang="en-US" sz="2400" dirty="0"/>
                        <a:t>throws</a:t>
                      </a:r>
                    </a:p>
                  </a:txBody>
                  <a:tcPr anchor="ctr"/>
                </a:tc>
                <a:extLst>
                  <a:ext uri="{0D108BD9-81ED-4DB2-BD59-A6C34878D82A}">
                    <a16:rowId xmlns:a16="http://schemas.microsoft.com/office/drawing/2014/main" val="10000"/>
                  </a:ext>
                </a:extLst>
              </a:tr>
              <a:tr h="1049061">
                <a:tc>
                  <a:txBody>
                    <a:bodyPr/>
                    <a:lstStyle/>
                    <a:p>
                      <a:pPr lvl="0" algn="l">
                        <a:buNone/>
                      </a:pPr>
                      <a:r>
                        <a:rPr lang="en-US" sz="2400" dirty="0">
                          <a:solidFill>
                            <a:srgbClr val="000000"/>
                          </a:solidFill>
                        </a:rPr>
                        <a:t>Definition</a:t>
                      </a:r>
                      <a:endParaRPr lang="en-US" sz="2400" dirty="0"/>
                    </a:p>
                  </a:txBody>
                  <a:tcPr anchor="ctr"/>
                </a:tc>
                <a:tc>
                  <a:txBody>
                    <a:bodyPr/>
                    <a:lstStyle/>
                    <a:p>
                      <a:pPr lvl="0" algn="l">
                        <a:lnSpc>
                          <a:spcPct val="100000"/>
                        </a:lnSpc>
                        <a:spcBef>
                          <a:spcPts val="0"/>
                        </a:spcBef>
                        <a:spcAft>
                          <a:spcPts val="0"/>
                        </a:spcAft>
                        <a:buNone/>
                      </a:pPr>
                      <a:r>
                        <a:rPr lang="en-US" sz="2000" u="none" strike="noStrike" noProof="0" dirty="0">
                          <a:solidFill>
                            <a:srgbClr val="000000"/>
                          </a:solidFill>
                        </a:rPr>
                        <a:t>It is used to explicitly throw an exception.</a:t>
                      </a:r>
                    </a:p>
                    <a:p>
                      <a:pPr lvl="0" algn="l">
                        <a:buNone/>
                      </a:pPr>
                      <a:endParaRPr lang="en-US" sz="2000" dirty="0"/>
                    </a:p>
                  </a:txBody>
                  <a:tcPr anchor="ctr"/>
                </a:tc>
                <a:tc>
                  <a:txBody>
                    <a:bodyPr/>
                    <a:lstStyle/>
                    <a:p>
                      <a:pPr lvl="0" algn="l">
                        <a:lnSpc>
                          <a:spcPct val="100000"/>
                        </a:lnSpc>
                        <a:spcBef>
                          <a:spcPts val="0"/>
                        </a:spcBef>
                        <a:spcAft>
                          <a:spcPts val="0"/>
                        </a:spcAft>
                        <a:buNone/>
                      </a:pPr>
                      <a:r>
                        <a:rPr lang="en-US" sz="2000" u="none" strike="noStrike" noProof="0" dirty="0">
                          <a:solidFill>
                            <a:srgbClr val="000000"/>
                          </a:solidFill>
                        </a:rPr>
                        <a:t>It is used to declare that a method might throw one or more exceptions.</a:t>
                      </a:r>
                    </a:p>
                    <a:p>
                      <a:pPr lvl="0" algn="l">
                        <a:buNone/>
                      </a:pPr>
                      <a:endParaRPr lang="en-US" sz="2000" dirty="0"/>
                    </a:p>
                  </a:txBody>
                  <a:tcPr anchor="ctr"/>
                </a:tc>
                <a:extLst>
                  <a:ext uri="{0D108BD9-81ED-4DB2-BD59-A6C34878D82A}">
                    <a16:rowId xmlns:a16="http://schemas.microsoft.com/office/drawing/2014/main" val="10001"/>
                  </a:ext>
                </a:extLst>
              </a:tr>
              <a:tr h="915846">
                <a:tc>
                  <a:txBody>
                    <a:bodyPr/>
                    <a:lstStyle/>
                    <a:p>
                      <a:pPr lvl="0" algn="l">
                        <a:buNone/>
                      </a:pPr>
                      <a:r>
                        <a:rPr lang="en-US" sz="2400" dirty="0"/>
                        <a:t>Location</a:t>
                      </a:r>
                    </a:p>
                  </a:txBody>
                  <a:tcPr anchor="ctr"/>
                </a:tc>
                <a:tc>
                  <a:txBody>
                    <a:bodyPr/>
                    <a:lstStyle/>
                    <a:p>
                      <a:pPr lvl="0" algn="l" rtl="0">
                        <a:spcAft>
                          <a:spcPts val="750"/>
                        </a:spcAft>
                        <a:buNone/>
                      </a:pPr>
                      <a:r>
                        <a:rPr lang="en-US" sz="2000" dirty="0">
                          <a:effectLst/>
                        </a:rPr>
                        <a:t>It is used inside a method or a block of code.</a:t>
                      </a:r>
                      <a:endParaRPr lang="en-US" sz="2000" dirty="0"/>
                    </a:p>
                  </a:txBody>
                  <a:tcPr marL="95250" marR="95250" marT="133350" marB="133350" anchor="ctr"/>
                </a:tc>
                <a:tc>
                  <a:txBody>
                    <a:bodyPr/>
                    <a:lstStyle/>
                    <a:p>
                      <a:pPr lvl="0" algn="l" rtl="0">
                        <a:spcAft>
                          <a:spcPts val="750"/>
                        </a:spcAft>
                        <a:buNone/>
                      </a:pPr>
                      <a:r>
                        <a:rPr lang="en-US" sz="2000" dirty="0">
                          <a:effectLst/>
                        </a:rPr>
                        <a:t>It is used in the method signature.</a:t>
                      </a:r>
                      <a:endParaRPr lang="en-US" sz="2000" dirty="0"/>
                    </a:p>
                  </a:txBody>
                  <a:tcPr marL="95250" marR="95250" marT="133350" marB="133350" anchor="ctr"/>
                </a:tc>
                <a:extLst>
                  <a:ext uri="{0D108BD9-81ED-4DB2-BD59-A6C34878D82A}">
                    <a16:rowId xmlns:a16="http://schemas.microsoft.com/office/drawing/2014/main" val="10002"/>
                  </a:ext>
                </a:extLst>
              </a:tr>
              <a:tr h="1232230">
                <a:tc>
                  <a:txBody>
                    <a:bodyPr/>
                    <a:lstStyle/>
                    <a:p>
                      <a:pPr lvl="0" algn="l">
                        <a:buNone/>
                      </a:pPr>
                      <a:r>
                        <a:rPr lang="en-US" sz="2400" dirty="0"/>
                        <a:t>Usage</a:t>
                      </a:r>
                    </a:p>
                  </a:txBody>
                  <a:tcPr anchor="ctr"/>
                </a:tc>
                <a:tc>
                  <a:txBody>
                    <a:bodyPr/>
                    <a:lstStyle/>
                    <a:p>
                      <a:pPr lvl="0" algn="l" rtl="0">
                        <a:spcAft>
                          <a:spcPts val="750"/>
                        </a:spcAft>
                        <a:buNone/>
                      </a:pPr>
                      <a:r>
                        <a:rPr lang="en-US" sz="2000" dirty="0">
                          <a:effectLst/>
                        </a:rPr>
                        <a:t>It can throw both checked and unchecked exceptions.</a:t>
                      </a:r>
                      <a:endParaRPr lang="en-US" sz="2000" dirty="0"/>
                    </a:p>
                  </a:txBody>
                  <a:tcPr marL="95250" marR="95250" marT="133350" marB="133350" anchor="ctr"/>
                </a:tc>
                <a:tc>
                  <a:txBody>
                    <a:bodyPr/>
                    <a:lstStyle/>
                    <a:p>
                      <a:pPr lvl="0" algn="l" rtl="0">
                        <a:spcAft>
                          <a:spcPts val="750"/>
                        </a:spcAft>
                        <a:buNone/>
                      </a:pPr>
                      <a:r>
                        <a:rPr lang="en-US" sz="2000" dirty="0">
                          <a:effectLst/>
                        </a:rPr>
                        <a:t>It is only used for checked exceptions. Unchecked exceptions do not require throws</a:t>
                      </a:r>
                    </a:p>
                  </a:txBody>
                  <a:tcPr marL="95250" marR="95250" marT="133350" marB="133350" anchor="ctr"/>
                </a:tc>
                <a:extLst>
                  <a:ext uri="{0D108BD9-81ED-4DB2-BD59-A6C34878D82A}">
                    <a16:rowId xmlns:a16="http://schemas.microsoft.com/office/drawing/2014/main" val="10003"/>
                  </a:ext>
                </a:extLst>
              </a:tr>
              <a:tr h="915846">
                <a:tc>
                  <a:txBody>
                    <a:bodyPr/>
                    <a:lstStyle/>
                    <a:p>
                      <a:pPr lvl="0" algn="l">
                        <a:buNone/>
                      </a:pPr>
                      <a:r>
                        <a:rPr lang="en-US" sz="2400" dirty="0">
                          <a:solidFill>
                            <a:srgbClr val="000000"/>
                          </a:solidFill>
                        </a:rPr>
                        <a:t>Responsibility</a:t>
                      </a:r>
                    </a:p>
                  </a:txBody>
                  <a:tcPr anchor="ctr"/>
                </a:tc>
                <a:tc>
                  <a:txBody>
                    <a:bodyPr/>
                    <a:lstStyle/>
                    <a:p>
                      <a:pPr lvl="0" algn="l" rtl="0">
                        <a:spcAft>
                          <a:spcPts val="750"/>
                        </a:spcAft>
                        <a:buNone/>
                      </a:pPr>
                      <a:r>
                        <a:rPr lang="en-US" sz="2000" dirty="0">
                          <a:effectLst/>
                        </a:rPr>
                        <a:t>The method or block throws the exception.</a:t>
                      </a:r>
                      <a:endParaRPr lang="en-US" sz="2000" dirty="0"/>
                    </a:p>
                  </a:txBody>
                  <a:tcPr marL="95250" marR="95250" marT="133350" marB="133350" anchor="ctr"/>
                </a:tc>
                <a:tc>
                  <a:txBody>
                    <a:bodyPr/>
                    <a:lstStyle/>
                    <a:p>
                      <a:pPr lvl="0" algn="l" rtl="0">
                        <a:spcAft>
                          <a:spcPts val="750"/>
                        </a:spcAft>
                        <a:buNone/>
                      </a:pPr>
                      <a:r>
                        <a:rPr lang="en-US" sz="2000" dirty="0">
                          <a:effectLst/>
                        </a:rPr>
                        <a:t>The method’s caller is responsible for handling the exception.</a:t>
                      </a:r>
                      <a:endParaRPr lang="en-US" sz="2000" dirty="0"/>
                    </a:p>
                  </a:txBody>
                  <a:tcPr marL="95250" marR="95250" marT="133350" marB="13335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1" y="1008993"/>
            <a:ext cx="9231410" cy="3542045"/>
          </a:xfrm>
        </p:spPr>
        <p:txBody>
          <a:bodyPr vert="horz" lIns="91440" tIns="45720" rIns="91440" bIns="45720" rtlCol="0" anchor="b">
            <a:normAutofit/>
          </a:bodyPr>
          <a:lstStyle/>
          <a:p>
            <a:r>
              <a:rPr lang="en-US" sz="11500" kern="1200">
                <a:solidFill>
                  <a:schemeClr val="tx1"/>
                </a:solidFill>
                <a:latin typeface="+mj-lt"/>
                <a:ea typeface="+mj-ea"/>
                <a:cs typeface="+mj-cs"/>
              </a:rPr>
              <a:t>Thank you</a:t>
            </a:r>
          </a:p>
        </p:txBody>
      </p:sp>
    </p:spTree>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F49CD38-5B57-4682-9FCE-B9174068D0AE}">
  <ds:schemaRefs/>
</ds:datastoreItem>
</file>

<file path=customXml/itemProps2.xml><?xml version="1.0" encoding="utf-8"?>
<ds:datastoreItem xmlns:ds="http://schemas.openxmlformats.org/officeDocument/2006/customXml" ds:itemID="{797783A8-901D-4F73-81D7-AA6841BEB3D7}">
  <ds:schemaRefs/>
</ds:datastoreItem>
</file>

<file path=customXml/itemProps3.xml><?xml version="1.0" encoding="utf-8"?>
<ds:datastoreItem xmlns:ds="http://schemas.openxmlformats.org/officeDocument/2006/customXml" ds:itemID="{1F342EE1-43E5-4AFB-895D-B61B9656DC14}">
  <ds:schemaRefs/>
</ds:datastoreItem>
</file>

<file path=docProps/app.xml><?xml version="1.0" encoding="utf-8"?>
<Properties xmlns="http://schemas.openxmlformats.org/officeDocument/2006/extended-properties" xmlns:vt="http://schemas.openxmlformats.org/officeDocument/2006/docPropsVTypes">
  <Template>3DFloatVTI</Template>
  <TotalTime>0</TotalTime>
  <Words>416</Words>
  <Application>Microsoft Office PowerPoint</Application>
  <PresentationFormat>Widescreen</PresentationFormat>
  <Paragraphs>117</Paragraphs>
  <Slides>27</Slides>
  <Notes>23</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3DFloatVTI</vt:lpstr>
      <vt:lpstr>Java SE cont.</vt:lpstr>
      <vt:lpstr>Agenda</vt:lpstr>
      <vt:lpstr>Inner Classes</vt:lpstr>
      <vt:lpstr>Member Inner Class</vt:lpstr>
      <vt:lpstr>2. Static Inner Class</vt:lpstr>
      <vt:lpstr>3. Local Inner Class</vt:lpstr>
      <vt:lpstr>4. Anonymous Inner Class</vt:lpstr>
      <vt:lpstr>Formatting and Regex</vt:lpstr>
      <vt:lpstr>PowerPoint Presentation</vt:lpstr>
      <vt:lpstr>PowerPoint Presentation</vt:lpstr>
      <vt:lpstr>PowerPoint Presentation</vt:lpstr>
      <vt:lpstr>PowerPoint Presentation</vt:lpstr>
      <vt:lpstr>PowerPoint Presentation</vt:lpstr>
      <vt:lpstr>Streams I/O</vt:lpstr>
      <vt:lpstr>PowerPoint Presentation</vt:lpstr>
      <vt:lpstr>Byte I/O Stream </vt:lpstr>
      <vt:lpstr>Character I/O Stream </vt:lpstr>
      <vt:lpstr>InputStreamReader</vt:lpstr>
      <vt:lpstr>ObjectInputStream</vt:lpstr>
      <vt:lpstr>Serializable</vt:lpstr>
      <vt:lpstr>Exception Handling</vt:lpstr>
      <vt:lpstr>Exception Handling</vt:lpstr>
      <vt:lpstr>PowerPoint Presentation</vt:lpstr>
      <vt:lpstr>PowerPoint Presentation</vt:lpstr>
      <vt:lpstr>PowerPoint Presentation</vt:lpstr>
      <vt:lpstr>Throw vs Throws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1195</cp:revision>
  <dcterms:created xsi:type="dcterms:W3CDTF">2025-05-10T18:39:00Z</dcterms:created>
  <dcterms:modified xsi:type="dcterms:W3CDTF">2025-05-24T05:23:06Z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KSOProductBuildVer">
    <vt:lpwstr>2057-12.2.0.20796</vt:lpwstr>
  </property>
  <property fmtid="{D5CDD505-2E9C-101B-9397-08002B2CF9AE}" pid="5" name="ICV">
    <vt:lpwstr>C81A93ACE3EB457AB26C0A46E886AA8D_12</vt:lpwstr>
  </property>
</Properties>
</file>